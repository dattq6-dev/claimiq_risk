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ClaimIQ is an AI Agent that helps the bank detect emerging fraud and risk patterns that existing rules and models were never trained to recognise. In the next few minutes: why current controls miss emerging risk, how ClaimIQ discovers, explains and acts, what it takes to build, the value we expect from a pilot, and how we would measure it. The three words to remember: Discover, Explain,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proposition: ClaimIQ complements existing rules and supervised models with a continuous discovery layer designed to identify unknown and emerging fraud patterns before they become material losses. It does not replace current Risk models. Three pillars. Discover: unseen patterns and hidden clusters. Explain: evidence, impact and risk narrative. Act: early warning and investigation trigger. Pilot targets (directional, to be validated against the bank's current baseline): 30–50% reduction in initial alert-analysis time through automated evidence aggregation and summarisation; 20–30% reduction in low-priority alert workload through anomaly ranking and graph context; time to identify an emerging fraud pattern reduced from weeks or months to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Risk and Fraud models are built mainly on historical data, confirmed fraud cases, predefined rules and known risk indicators. That works well for familiar behaviour. Our AML and transaction-monitoring systems already cover many recognised scenarios: rapid fund movement, sudden activity in dormant accounts, deviation from peer behaviour, concentration or dispersion of transactions, and unusual links between senders and beneficiaries. The limitation: every one of these scenarios depends on logic, thresholds and behavioural patterns that have already been defined. When customer behaviour, transaction patterns, fraud techniques, products and digital channels evolve, these controls can respond too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to solve, in six points: 1. Detect fraud patterns that have never appeared before or have not yet been labelled. 2. Identify new variants of known fraud methods before sufficient confirmed cases exist for supervised model training. 3. Discover coordinated behaviour across customers, accounts, devices and counterparties. 4. Distinguish isolated anomalies from an emerging and expanding risk trend. 5. Provide early warning before a pattern develops into material financial or operational loss. 6. Explain why a signal matters and present sufficient evidence for a Risk Analyst to investigate. The strategic shift: move from reactive risk management, where controls respond to known typologies, to proactive risk discovery and early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ClaimIQ is an enterprise AI-enabled discovery system. It continuously analyses transactions, customer behaviour, accounts, devices, channels, relationships and investigation outcomes, and combines anomaly detection, behavioural analytics, graph analytics and an AI Agent. Five integrated capabilities: 1. Detect anomalous behaviour without requiring fraud labels. 2. Discover new risk networks and hidden clusters with graph analytics. 3. Discover emerging fraud patterns automatically: cluster, size and propose a candidate typology for expert validation. 4. AI Agent for explanation and investigation support. 5. Action trigger with human-in-the-loop control. Steps 1 to 3 are the Discover pillar, step 4 is Explain, step 5 is Act. Analyst decisions and investigation outcomes are captured and feed the next learning cycle, so detection keeps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Anomalies, without fraud labels: build an adaptive behavioural baseline for each customer, segment and peer group; detect sudden changes in transaction frequency, value, timing, channel or counterparty; identify behaviour that deviates from the customer's own history or from comparable peers; surface rare combinations of signals not encoded in any existing rule; combine anomalies across multiple data dimensions to reduce reliance on a single threshold. Networks, via graph analytics: link customers, accounts, devices, addresses, phone numbers, beneficiaries and fund flows. This reveals multiple accounts sharing a device or identity attribute; circular, layered or rapidly dispersed fund flows; collector, intermediary and distribution accounts; groups acting in coordination although individual accounts appear normal; and new entities connecting to an existing high-risk network. Emerging patterns, automatically: cluster similar unusual events and identify their shared characteristics; measure growth rate, persistence and geographic or channel spread; estimate the number of customers and transaction value potentially affected; propose a candidate fraud typology for expert validation; recommend new rules, features or model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example from the proposal: a group of newly opened accounts may each remain below individual alert thresholds, so no single rule fires. ClaimIQ looks at the network instead: it identifies shared devices, multiple funding sources and rapid transfers to a small network of intermediary accounts. Seen together, these signals form one coordinated pattern that can be routed to an analyst before it scales. This is a scenario to show the mechanism, not a real case or a measured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For every signal the AI Agent explains what is unusual and which baseline was breached; identifies the customers, accounts, transactions and relationships involved; shows when the signal first appeared and how it is evolving; estimates severity and potential exposure; explains which existing rule or model failed to capture the pattern; and presents supporting evidence with recommended investigation actions. Act. ClaimIQ sends an early warning to the relevant Fraud or Risk Analyst; creates or enriches an investigation case in the existing case-management system; prioritises alerts by confidence, estimated loss and network reach; recommends a monitoring rule, fraud feature or enhanced-surveillance action; and captures analyst decisions and investigation outcomes for the next learning cycle. Control principle, which is non-negotiable: final decisions remain with authorised Risk specialists. The AI supports discovery, prioritisation and investigation, but does not independently conclude fraud or make adverse customer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near-real-time transaction data; customer profile, segmentation, KYC information and risk rating; accounts, products, channels and counterparties; device ID, IP address, session and authentication signals, subject to policy; relationship data linking customers, accounts and related entities; historical alerts, cases, investigation results and confirmed losses; fraud labels, blacklists, whitelists, skip lists and trusted pairs where available; permitted external data such as watchlists, adverse-media indicators or market events. Platform: enterprise Data Lake or Lakehouse with a governed feature store; streaming or near-real-time pipelines; unsupervised and semi-supervised anomaly detection with behavioural and peer-group analysis; a graph database or graph-processing engine; a governed LLM with controlled retrieval of data and evidence; model registry, validation, monitoring and drift detection; APIs to AML, Fraud and Case Management platforms; role-based access, masking, encryption and a full audit trail. People and governance: Fraud and Financial Crime Risk SMEs; Data Scientists, ML Engineers, Data Engineers and Graph Engineers; Risk Model Validation and Model Risk Management; Information Security, Data Governance, Legal and Compliance; AML and Fraud investigators; AML, Fraud and Case Management integration teams. Specialist model: a medium-sized, internally deployed language model can be post-trained on approved and anonymised domain data for fraud reasoning, alert summarisation and investigation assistance. A specialist model is preferable where accuracy, explainability, latency, privacy and cost must be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benefit targets. These are directional and must be validated against the bank's current baseline before we commit to them. - Initial alert-analysis time: 30–50% reduction, through automated evidence aggregation and summarisation. - Low-priority alert workload: 20–30% reduction, through anomaly ranking and graph context. - Time to identify an emerging fraud pattern: from weeks or months to days. - Risk coverage: higher detection of previously unknown or weakly signalled patterns. - Analyst capacity: more cases handled without proportional headcount growth. - Expected loss exposure: earlier warning and intervention before a pattern scales. Qualitative benefits: detect unknown fraud outside current rule coverage; adapt faster as behaviours and channels evolve; reduce dependence on waiting for many confirmed cases before retraining; clearer explanations and traceable evidence per alert; move Risk teams from isolated alerts to network-level pattern discovery; a continuous feedback loop across detection, investigation, validation and model enhancement. Principal cost components: data engineering and integration with source and case-management systems; graph and streaming infrastructure; model development, post-training, validation and monitoring; information-security controls and model governance; change management, user training and operating-model redesign; ongoing compute, storage and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pilot scope: Fraud Risk Management; Financial Crime Risk Management and AML; Card Risk and Payment Risk; Digital Banking Risk; Transaction Monitoring operations. Expansion potential: Retail Banking and Corporate Banking; Wealth Management; Lending and Credit Risk; Operations and Contact Centre; Cybersecurity and account-takeover monitoring; Enterprise Risk Management. In the longer term ClaimIQ can become an enterprise-wide discovery layer analysing emerging risks across customers, transactions, portfolios, operations, digital channels and external events. Recommended pilot KPIs (ten): recall on confirmed fraud cases; precision or alert-to-case conversion rate; dollar-weighted recall; false-positive rate; time from first signal to generated warning; average investigation time per alert; number of emerging patterns validated by experts; total transaction value identified for early review; percentage of alerts with complete evidence and explanation; analyst acceptance rate for AI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positioning. Existing controls answer one question: does this activity match a known risk pattern? ClaimIQ answers a different one: what new risk pattern is beginning to emerge, why does it matter, and what should we investigate now? Elevator pitch: ClaimIQ is an AI Agent that helps the bank detect emerging fraud and risk patterns that existing rules and models were never trained to recognise. It continuously analyses behaviour, transactions and relationship networks to discover unusual clusters, explain why they matter, estimate potential impact and trigger an investigation workflow. It does not replace current Risk models; it adds a discovery layer so the bank can identify and intervene earlier. Detect the unknown. Explain the signal. Trigger early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CFB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000000"/>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5001"/>
            <a:ext cx="10566400" cy="4140199"/>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CFBFB"/>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5001"/>
            <a:ext cx="10566400" cy="4140199"/>
          </a:xfrm>
          <a:prstGeom prst="rect">
            <a:avLst/>
          </a:prstGeom>
          <a:noFill/>
          <a:ln/>
        </p:spPr>
        <p:txBody>
          <a:bodyPr wrap="square" lIns="0" tIns="0" rIns="0" bIns="0" rtlCol="0" anchor="t"/>
          <a:lstStyle>
            <a:lvl1pPr algn="l" indent="0" marL="0">
              <a:lnSpc>
                <a:spcPct val="140000"/>
              </a:lnSpc>
              <a:buNone/>
              <a:defRPr lang="en-US" sz="1600" dirty="0">
                <a:solidFill>
                  <a:srgbClr val="FCFBF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CFBFB"/>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5001"/>
            <a:ext cx="10566400" cy="4140199"/>
          </a:xfrm>
          <a:prstGeom prst="rect">
            <a:avLst/>
          </a:prstGeom>
          <a:noFill/>
          <a:ln/>
        </p:spPr>
        <p:txBody>
          <a:bodyPr wrap="square" lIns="0" tIns="0" rIns="0" bIns="0" rtlCol="0" anchor="t"/>
          <a:lstStyle>
            <a:lvl1pPr algn="l" indent="0" marL="0">
              <a:lnSpc>
                <a:spcPct val="140000"/>
              </a:lnSpc>
              <a:buNone/>
              <a:defRPr lang="en-US" sz="1600" dirty="0">
                <a:solidFill>
                  <a:srgbClr val="FCFBF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B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000000"/>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5001"/>
            <a:ext cx="10566400" cy="4140199"/>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bstract network graph with a highlighted red cluster inside radar rings">    </p:cNvPr>
          <p:cNvPicPr>
            <a:picLocks noChangeAspect="1"/>
          </p:cNvPicPr>
          <p:nvPr/>
        </p:nvPicPr>
        <p:blipFill>
          <a:blip r:embed="rId1"/>
          <a:srcRect l="0" r="0" t="0" b="0"/>
          <a:stretch/>
        </p:blipFill>
        <p:spPr>
          <a:xfrm>
            <a:off x="6350000" y="812800"/>
            <a:ext cx="5029200" cy="5232400"/>
          </a:xfrm>
          <a:prstGeom prst="rect">
            <a:avLst/>
          </a:prstGeom>
        </p:spPr>
      </p:pic>
      <p:sp>
        <p:nvSpPr>
          <p:cNvPr id="3" name="Shape 0"/>
          <p:cNvSpPr/>
          <p:nvPr/>
        </p:nvSpPr>
        <p:spPr>
          <a:xfrm>
            <a:off x="812800" y="906780"/>
            <a:ext cx="304800" cy="25400"/>
          </a:xfrm>
          <a:prstGeom prst="rect">
            <a:avLst/>
          </a:prstGeom>
          <a:solidFill>
            <a:srgbClr val="ED1B24"/>
          </a:solidFill>
          <a:ln/>
        </p:spPr>
      </p:sp>
      <p:sp>
        <p:nvSpPr>
          <p:cNvPr id="4" name="Text 1"/>
          <p:cNvSpPr/>
          <p:nvPr/>
        </p:nvSpPr>
        <p:spPr>
          <a:xfrm>
            <a:off x="1219200" y="812800"/>
            <a:ext cx="3146679"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3797D"/>
                </a:solidFill>
                <a:latin typeface="Inter" pitchFamily="34" charset="0"/>
                <a:ea typeface="Inter" pitchFamily="34" charset="-122"/>
                <a:cs typeface="Inter" pitchFamily="34" charset="-120"/>
              </a:rPr>
              <a:t>EMERGING RISK DETECTOR</a:t>
            </a:r>
            <a:endParaRPr lang="en-US" sz="1200" dirty="0"/>
          </a:p>
        </p:txBody>
      </p:sp>
      <p:sp>
        <p:nvSpPr>
          <p:cNvPr id="5" name="Text 2"/>
          <p:cNvSpPr/>
          <p:nvPr>
            <p:ph type="title"/>
          </p:nvPr>
        </p:nvSpPr>
        <p:spPr>
          <a:xfrm>
            <a:off x="812800" y="2039620"/>
            <a:ext cx="5494020" cy="787400"/>
          </a:xfrm>
          <a:prstGeom prst="rect">
            <a:avLst/>
          </a:prstGeom>
          <a:noFill/>
          <a:ln/>
        </p:spPr>
        <p:txBody>
          <a:bodyPr wrap="square" lIns="0" tIns="0" rIns="0" bIns="0" rtlCol="0" anchor="t">
            <a:normAutofit/>
          </a:bodyPr>
          <a:lstStyle/>
          <a:p>
            <a:pPr algn="l" indent="0" marL="0">
              <a:lnSpc>
                <a:spcPts val="6000"/>
              </a:lnSpc>
              <a:buNone/>
            </a:pPr>
            <a:r>
              <a:rPr lang="en-US" sz="6000" b="1" i="0" spc="-150" kern="0" dirty="0">
                <a:solidFill>
                  <a:srgbClr val="FCFBFB"/>
                </a:solidFill>
                <a:latin typeface="Plus Jakarta Sans" pitchFamily="34" charset="0"/>
                <a:ea typeface="Plus Jakarta Sans" pitchFamily="34" charset="-122"/>
                <a:cs typeface="Plus Jakarta Sans" pitchFamily="34" charset="-120"/>
              </a:rPr>
              <a:t>Claim</a:t>
            </a:r>
            <a:r>
              <a:rPr lang="en-US" sz="6000" b="1" i="0" spc="-150" kern="0" dirty="0">
                <a:solidFill>
                  <a:srgbClr val="ED1B24"/>
                </a:solidFill>
                <a:latin typeface="Plus Jakarta Sans" pitchFamily="34" charset="0"/>
                <a:ea typeface="Plus Jakarta Sans" pitchFamily="34" charset="-122"/>
                <a:cs typeface="Plus Jakarta Sans" pitchFamily="34" charset="-120"/>
              </a:rPr>
              <a:t>IQ</a:t>
            </a:r>
            <a:endParaRPr lang="en-US" sz="6000" dirty="0"/>
          </a:p>
        </p:txBody>
      </p:sp>
      <p:sp>
        <p:nvSpPr>
          <p:cNvPr id="6" name="Text 3"/>
          <p:cNvSpPr/>
          <p:nvPr/>
        </p:nvSpPr>
        <p:spPr>
          <a:xfrm>
            <a:off x="812800" y="2979420"/>
            <a:ext cx="549402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CFBFB"/>
                </a:solidFill>
                <a:latin typeface="Plus Jakarta Sans" pitchFamily="34" charset="0"/>
                <a:ea typeface="Plus Jakarta Sans" pitchFamily="34" charset="-122"/>
                <a:cs typeface="Plus Jakarta Sans" pitchFamily="34" charset="-120"/>
              </a:rPr>
              <a:t>AI Agent for Emerging Risk</a:t>
            </a:r>
            <a:endParaRPr lang="en-US" sz="2000" dirty="0"/>
          </a:p>
          <a:p>
            <a:pPr algn="l" indent="0" marL="0">
              <a:lnSpc>
                <a:spcPts val="2400"/>
              </a:lnSpc>
              <a:buNone/>
            </a:pPr>
            <a:r>
              <a:rPr lang="en-US" sz="2000" b="1" dirty="0">
                <a:solidFill>
                  <a:srgbClr val="FCFBFB"/>
                </a:solidFill>
                <a:latin typeface="Plus Jakarta Sans" pitchFamily="34" charset="0"/>
                <a:ea typeface="Plus Jakarta Sans" pitchFamily="34" charset="-122"/>
                <a:cs typeface="Plus Jakarta Sans" pitchFamily="34" charset="-120"/>
              </a:rPr>
              <a:t>and Fraud Discovery</a:t>
            </a:r>
            <a:endParaRPr lang="en-US" sz="2000" dirty="0"/>
          </a:p>
        </p:txBody>
      </p:sp>
      <p:sp>
        <p:nvSpPr>
          <p:cNvPr id="7" name="Shape 4"/>
          <p:cNvSpPr/>
          <p:nvPr/>
        </p:nvSpPr>
        <p:spPr>
          <a:xfrm>
            <a:off x="812800" y="3766820"/>
            <a:ext cx="609600" cy="25400"/>
          </a:xfrm>
          <a:prstGeom prst="rect">
            <a:avLst/>
          </a:prstGeom>
          <a:solidFill>
            <a:srgbClr val="ED1B24"/>
          </a:solidFill>
          <a:ln/>
        </p:spPr>
      </p:sp>
      <p:sp>
        <p:nvSpPr>
          <p:cNvPr id="8" name="Text 5"/>
          <p:cNvSpPr/>
          <p:nvPr/>
        </p:nvSpPr>
        <p:spPr>
          <a:xfrm>
            <a:off x="812800" y="3970020"/>
            <a:ext cx="5494020" cy="52324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AFABAB"/>
                </a:solidFill>
                <a:latin typeface="Inter" pitchFamily="34" charset="0"/>
                <a:ea typeface="Inter" pitchFamily="34" charset="-122"/>
                <a:cs typeface="Inter" pitchFamily="34" charset="-120"/>
              </a:rPr>
              <a:t>Detect the unknown. Explain the signal.</a:t>
            </a:r>
            <a:endParaRPr lang="en-US" sz="1400" dirty="0"/>
          </a:p>
          <a:p>
            <a:pPr algn="l" indent="0" marL="0">
              <a:lnSpc>
                <a:spcPts val="1960"/>
              </a:lnSpc>
              <a:buNone/>
            </a:pPr>
            <a:r>
              <a:rPr lang="en-US" sz="1400" i="1" dirty="0">
                <a:solidFill>
                  <a:srgbClr val="AFABAB"/>
                </a:solidFill>
                <a:latin typeface="Inter" pitchFamily="34" charset="0"/>
                <a:ea typeface="Inter" pitchFamily="34" charset="-122"/>
                <a:cs typeface="Inter" pitchFamily="34" charset="-120"/>
              </a:rPr>
              <a:t>Trigger early action.</a:t>
            </a:r>
            <a:endParaRPr lang="en-US" sz="1400" dirty="0"/>
          </a:p>
        </p:txBody>
      </p:sp>
      <p:sp>
        <p:nvSpPr>
          <p:cNvPr id="9" name="Text 6"/>
          <p:cNvSpPr/>
          <p:nvPr/>
        </p:nvSpPr>
        <p:spPr>
          <a:xfrm>
            <a:off x="815975" y="5484495"/>
            <a:ext cx="1178004" cy="557530"/>
          </a:xfrm>
          <a:custGeom>
            <a:avLst/>
            <a:gdLst/>
            <a:ahLst/>
            <a:cxnLst/>
            <a:rect l="l" t="t" r="r" b="b"/>
            <a:pathLst>
              <a:path w="1178004" h="557530">
                <a:moveTo>
                  <a:pt x="278765" y="0"/>
                </a:moveTo>
                <a:lnTo>
                  <a:pt x="899239" y="0"/>
                </a:lnTo>
                <a:arcTo hR="278765" wR="278765" stAng="16200000" swAng="5400000"/>
                <a:lnTo>
                  <a:pt x="1178004" y="278765"/>
                </a:lnTo>
                <a:arcTo hR="278765" wR="278765" stAng="0" swAng="5400000"/>
                <a:lnTo>
                  <a:pt x="278765" y="557530"/>
                </a:lnTo>
                <a:arcTo hR="278765" wR="278765" stAng="5400000" swAng="5400000"/>
                <a:lnTo>
                  <a:pt x="0" y="278765"/>
                </a:lnTo>
                <a:arcTo hR="278765" wR="278765" stAng="10800000" swAng="5400000"/>
                <a:close/>
              </a:path>
            </a:pathLst>
          </a:custGeom>
          <a:noFill/>
          <a:ln w="6350">
            <a:solidFill>
              <a:srgbClr val="F7A5A8"/>
            </a:solidFill>
            <a:prstDash val="solid"/>
          </a:ln>
        </p:spPr>
        <p:txBody>
          <a:bodyPr wrap="square" lIns="154305" tIns="65405" rIns="103505" bIns="40005" rtlCol="0" anchor="t">
            <a:normAutofit/>
          </a:bodyPr>
          <a:lstStyle/>
          <a:p>
            <a:pPr algn="l" indent="0" marL="0">
              <a:lnSpc>
                <a:spcPts val="1680"/>
              </a:lnSpc>
              <a:buNone/>
            </a:pPr>
            <a:r>
              <a:rPr lang="en-US" sz="1200" b="1" spc="150" kern="0" dirty="0">
                <a:solidFill>
                  <a:srgbClr val="FBD2D4"/>
                </a:solidFill>
                <a:latin typeface="Inter" pitchFamily="34" charset="0"/>
                <a:ea typeface="Inter" pitchFamily="34" charset="-122"/>
                <a:cs typeface="Inter" pitchFamily="34" charset="-120"/>
              </a:rPr>
              <a:t>DISCOVER</a:t>
            </a:r>
            <a:endParaRPr lang="en-US" sz="1200" dirty="0"/>
          </a:p>
        </p:txBody>
      </p:sp>
      <p:sp>
        <p:nvSpPr>
          <p:cNvPr id="10" name="Text 7"/>
          <p:cNvSpPr/>
          <p:nvPr/>
        </p:nvSpPr>
        <p:spPr>
          <a:xfrm>
            <a:off x="2076529" y="5484495"/>
            <a:ext cx="1048464" cy="557530"/>
          </a:xfrm>
          <a:custGeom>
            <a:avLst/>
            <a:gdLst/>
            <a:ahLst/>
            <a:cxnLst/>
            <a:rect l="l" t="t" r="r" b="b"/>
            <a:pathLst>
              <a:path w="1048464" h="557530">
                <a:moveTo>
                  <a:pt x="278765" y="0"/>
                </a:moveTo>
                <a:lnTo>
                  <a:pt x="769699" y="0"/>
                </a:lnTo>
                <a:arcTo hR="278765" wR="278765" stAng="16200000" swAng="5400000"/>
                <a:lnTo>
                  <a:pt x="1048464" y="278765"/>
                </a:lnTo>
                <a:arcTo hR="278765" wR="278765" stAng="0" swAng="5400000"/>
                <a:lnTo>
                  <a:pt x="278765" y="557530"/>
                </a:lnTo>
                <a:arcTo hR="278765" wR="278765" stAng="5400000" swAng="5400000"/>
                <a:lnTo>
                  <a:pt x="0" y="278765"/>
                </a:lnTo>
                <a:arcTo hR="278765" wR="278765" stAng="10800000" swAng="5400000"/>
                <a:close/>
              </a:path>
            </a:pathLst>
          </a:custGeom>
          <a:noFill/>
          <a:ln w="6350">
            <a:solidFill>
              <a:srgbClr val="F3797D"/>
            </a:solidFill>
            <a:prstDash val="solid"/>
          </a:ln>
        </p:spPr>
        <p:txBody>
          <a:bodyPr wrap="square" lIns="154305" tIns="65405" rIns="103505" bIns="40005" rtlCol="0" anchor="t">
            <a:normAutofit/>
          </a:bodyPr>
          <a:lstStyle/>
          <a:p>
            <a:pPr algn="l" indent="0" marL="0">
              <a:lnSpc>
                <a:spcPts val="1680"/>
              </a:lnSpc>
              <a:buNone/>
            </a:pPr>
            <a:r>
              <a:rPr lang="en-US" sz="1200" b="1" spc="150" kern="0" dirty="0">
                <a:solidFill>
                  <a:srgbClr val="FCFBFB"/>
                </a:solidFill>
                <a:latin typeface="Inter" pitchFamily="34" charset="0"/>
                <a:ea typeface="Inter" pitchFamily="34" charset="-122"/>
                <a:cs typeface="Inter" pitchFamily="34" charset="-120"/>
              </a:rPr>
              <a:t>EXPLAIN</a:t>
            </a:r>
            <a:endParaRPr lang="en-US" sz="1200" dirty="0"/>
          </a:p>
        </p:txBody>
      </p:sp>
      <p:sp>
        <p:nvSpPr>
          <p:cNvPr id="11" name="Text 8"/>
          <p:cNvSpPr/>
          <p:nvPr/>
        </p:nvSpPr>
        <p:spPr>
          <a:xfrm>
            <a:off x="3207544" y="5484495"/>
            <a:ext cx="660797" cy="557530"/>
          </a:xfrm>
          <a:custGeom>
            <a:avLst/>
            <a:gdLst/>
            <a:ahLst/>
            <a:cxnLst/>
            <a:rect l="l" t="t" r="r" b="b"/>
            <a:pathLst>
              <a:path w="660797" h="557530">
                <a:moveTo>
                  <a:pt x="278765" y="0"/>
                </a:moveTo>
                <a:lnTo>
                  <a:pt x="382032" y="0"/>
                </a:lnTo>
                <a:arcTo hR="278765" wR="278765" stAng="16200000" swAng="5400000"/>
                <a:lnTo>
                  <a:pt x="660797" y="278765"/>
                </a:lnTo>
                <a:arcTo hR="278765" wR="278765" stAng="0" swAng="5400000"/>
                <a:lnTo>
                  <a:pt x="278765" y="557530"/>
                </a:lnTo>
                <a:arcTo hR="278765" wR="278765" stAng="5400000" swAng="5400000"/>
                <a:lnTo>
                  <a:pt x="0" y="278765"/>
                </a:lnTo>
                <a:arcTo hR="278765" wR="278765" stAng="10800000" swAng="5400000"/>
                <a:close/>
              </a:path>
            </a:pathLst>
          </a:custGeom>
          <a:solidFill>
            <a:srgbClr val="ED1B24"/>
          </a:solidFill>
          <a:ln w="6350">
            <a:solidFill>
              <a:srgbClr val="ED1B24"/>
            </a:solidFill>
            <a:prstDash val="solid"/>
          </a:ln>
        </p:spPr>
        <p:txBody>
          <a:bodyPr wrap="square" lIns="154305" tIns="65405" rIns="103505" bIns="40005" rtlCol="0" anchor="t">
            <a:normAutofit/>
          </a:bodyPr>
          <a:lstStyle/>
          <a:p>
            <a:pPr algn="l" indent="0" marL="0">
              <a:lnSpc>
                <a:spcPts val="1680"/>
              </a:lnSpc>
              <a:buNone/>
            </a:pPr>
            <a:r>
              <a:rPr lang="en-US" sz="1200" b="1" spc="150" kern="0" dirty="0">
                <a:solidFill>
                  <a:srgbClr val="FCFBFB"/>
                </a:solidFill>
                <a:latin typeface="Inter" pitchFamily="34" charset="0"/>
                <a:ea typeface="Inter" pitchFamily="34" charset="-122"/>
                <a:cs typeface="Inter" pitchFamily="34" charset="-120"/>
              </a:rPr>
              <a:t>ACT</a:t>
            </a:r>
            <a:endParaRPr lang="en-US" sz="1200" dirty="0"/>
          </a:p>
        </p:txBody>
      </p:sp>
      <p:sp>
        <p:nvSpPr>
          <p:cNvPr id="12" name="Text 9"/>
          <p:cNvSpPr/>
          <p:nvPr/>
        </p:nvSpPr>
        <p:spPr>
          <a:xfrm>
            <a:off x="3871516" y="5549900"/>
            <a:ext cx="23435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Solution proposal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80"/>
            <a:ext cx="304800" cy="25400"/>
          </a:xfrm>
          <a:prstGeom prst="rect">
            <a:avLst/>
          </a:prstGeom>
          <a:solidFill>
            <a:srgbClr val="ED1B24"/>
          </a:solidFill>
          <a:ln/>
        </p:spPr>
      </p:sp>
      <p:sp>
        <p:nvSpPr>
          <p:cNvPr id="3" name="Text 1"/>
          <p:cNvSpPr/>
          <p:nvPr/>
        </p:nvSpPr>
        <p:spPr>
          <a:xfrm>
            <a:off x="1219200" y="812800"/>
            <a:ext cx="2588228"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EXECUTIVE SUMMARY</a:t>
            </a:r>
            <a:endParaRPr lang="en-US" sz="1200" dirty="0"/>
          </a:p>
        </p:txBody>
      </p:sp>
      <p:sp>
        <p:nvSpPr>
          <p:cNvPr id="4" name="Text 2"/>
          <p:cNvSpPr/>
          <p:nvPr>
            <p:ph type="title"/>
          </p:nvPr>
        </p:nvSpPr>
        <p:spPr>
          <a:xfrm>
            <a:off x="812800" y="115316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A discovery layer that finds emerging fraud before it becomes a material loss</a:t>
            </a:r>
            <a:endParaRPr lang="en-US" sz="3200" dirty="0"/>
          </a:p>
        </p:txBody>
      </p:sp>
      <p:sp>
        <p:nvSpPr>
          <p:cNvPr id="5" name="Text 3"/>
          <p:cNvSpPr/>
          <p:nvPr/>
        </p:nvSpPr>
        <p:spPr>
          <a:xfrm>
            <a:off x="812800" y="21742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04040"/>
                </a:solidFill>
                <a:latin typeface="Inter" pitchFamily="34" charset="0"/>
                <a:ea typeface="Inter" pitchFamily="34" charset="-122"/>
                <a:cs typeface="Inter" pitchFamily="34" charset="-120"/>
              </a:rPr>
              <a:t>ClaimIQ complements, not replaces, the bank's existing rules and supervised models.</a:t>
            </a:r>
            <a:endParaRPr lang="en-US" sz="1400" dirty="0"/>
          </a:p>
        </p:txBody>
      </p:sp>
      <p:sp>
        <p:nvSpPr>
          <p:cNvPr id="6" name="Shape 4"/>
          <p:cNvSpPr/>
          <p:nvPr/>
        </p:nvSpPr>
        <p:spPr>
          <a:xfrm>
            <a:off x="812800" y="2677160"/>
            <a:ext cx="3420507" cy="1676400"/>
          </a:xfrm>
          <a:prstGeom prst="roundRect">
            <a:avLst>
              <a:gd name="adj" fmla="val 6061"/>
            </a:avLst>
          </a:prstGeom>
          <a:solidFill>
            <a:srgbClr val="FBD2D4"/>
          </a:solidFill>
          <a:ln/>
        </p:spPr>
      </p:sp>
      <p:sp>
        <p:nvSpPr>
          <p:cNvPr id="7" name="Text 5"/>
          <p:cNvSpPr/>
          <p:nvPr/>
        </p:nvSpPr>
        <p:spPr>
          <a:xfrm>
            <a:off x="1066800" y="2931160"/>
            <a:ext cx="299988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0B0F"/>
                </a:solidFill>
                <a:latin typeface="Inter" pitchFamily="34" charset="0"/>
                <a:ea typeface="Inter" pitchFamily="34" charset="-122"/>
                <a:cs typeface="Inter" pitchFamily="34" charset="-120"/>
              </a:rPr>
              <a:t>01</a:t>
            </a:r>
            <a:endParaRPr lang="en-US" sz="1200" dirty="0"/>
          </a:p>
        </p:txBody>
      </p:sp>
      <p:sp>
        <p:nvSpPr>
          <p:cNvPr id="8" name="Text 6"/>
          <p:cNvSpPr/>
          <p:nvPr/>
        </p:nvSpPr>
        <p:spPr>
          <a:xfrm>
            <a:off x="1066800" y="3220720"/>
            <a:ext cx="299988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Discover</a:t>
            </a:r>
            <a:endParaRPr lang="en-US" sz="2000" dirty="0"/>
          </a:p>
        </p:txBody>
      </p:sp>
      <p:sp>
        <p:nvSpPr>
          <p:cNvPr id="9" name="Text 7"/>
          <p:cNvSpPr/>
          <p:nvPr/>
        </p:nvSpPr>
        <p:spPr>
          <a:xfrm>
            <a:off x="1066800" y="3601720"/>
            <a:ext cx="299988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Inter" pitchFamily="34" charset="0"/>
                <a:ea typeface="Inter" pitchFamily="34" charset="-122"/>
                <a:cs typeface="Inter" pitchFamily="34" charset="-120"/>
              </a:rPr>
              <a:t>Unseen patterns and hidden clusters</a:t>
            </a:r>
            <a:endParaRPr lang="en-US" sz="1400" dirty="0"/>
          </a:p>
        </p:txBody>
      </p:sp>
      <p:sp>
        <p:nvSpPr>
          <p:cNvPr id="10" name="Shape 8"/>
          <p:cNvSpPr/>
          <p:nvPr/>
        </p:nvSpPr>
        <p:spPr>
          <a:xfrm>
            <a:off x="4385707" y="2677160"/>
            <a:ext cx="3420586" cy="1676400"/>
          </a:xfrm>
          <a:prstGeom prst="roundRect">
            <a:avLst>
              <a:gd name="adj" fmla="val 6061"/>
            </a:avLst>
          </a:prstGeom>
          <a:solidFill>
            <a:srgbClr val="F3797D"/>
          </a:solidFill>
          <a:ln/>
        </p:spPr>
      </p:sp>
      <p:sp>
        <p:nvSpPr>
          <p:cNvPr id="11" name="Text 9"/>
          <p:cNvSpPr/>
          <p:nvPr/>
        </p:nvSpPr>
        <p:spPr>
          <a:xfrm>
            <a:off x="4639707" y="2931160"/>
            <a:ext cx="299996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0000"/>
                </a:solidFill>
                <a:latin typeface="Inter" pitchFamily="34" charset="0"/>
                <a:ea typeface="Inter" pitchFamily="34" charset="-122"/>
                <a:cs typeface="Inter" pitchFamily="34" charset="-120"/>
              </a:rPr>
              <a:t>02</a:t>
            </a:r>
            <a:endParaRPr lang="en-US" sz="1200" dirty="0"/>
          </a:p>
        </p:txBody>
      </p:sp>
      <p:sp>
        <p:nvSpPr>
          <p:cNvPr id="12" name="Text 10"/>
          <p:cNvSpPr/>
          <p:nvPr/>
        </p:nvSpPr>
        <p:spPr>
          <a:xfrm>
            <a:off x="4639707" y="3220720"/>
            <a:ext cx="29999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Explain</a:t>
            </a:r>
            <a:endParaRPr lang="en-US" sz="2000" dirty="0"/>
          </a:p>
        </p:txBody>
      </p:sp>
      <p:sp>
        <p:nvSpPr>
          <p:cNvPr id="13" name="Text 11"/>
          <p:cNvSpPr/>
          <p:nvPr/>
        </p:nvSpPr>
        <p:spPr>
          <a:xfrm>
            <a:off x="4639707" y="3601720"/>
            <a:ext cx="299996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Inter" pitchFamily="34" charset="0"/>
                <a:ea typeface="Inter" pitchFamily="34" charset="-122"/>
                <a:cs typeface="Inter" pitchFamily="34" charset="-120"/>
              </a:rPr>
              <a:t>Evidence, impact and risk narrative</a:t>
            </a:r>
            <a:endParaRPr lang="en-US" sz="1400" dirty="0"/>
          </a:p>
        </p:txBody>
      </p:sp>
      <p:sp>
        <p:nvSpPr>
          <p:cNvPr id="14" name="Shape 12"/>
          <p:cNvSpPr/>
          <p:nvPr/>
        </p:nvSpPr>
        <p:spPr>
          <a:xfrm>
            <a:off x="7958693" y="2677160"/>
            <a:ext cx="3420507" cy="1676400"/>
          </a:xfrm>
          <a:prstGeom prst="roundRect">
            <a:avLst>
              <a:gd name="adj" fmla="val 6061"/>
            </a:avLst>
          </a:prstGeom>
          <a:solidFill>
            <a:srgbClr val="7A0B0F"/>
          </a:solidFill>
          <a:ln/>
        </p:spPr>
      </p:sp>
      <p:sp>
        <p:nvSpPr>
          <p:cNvPr id="15" name="Text 13"/>
          <p:cNvSpPr/>
          <p:nvPr/>
        </p:nvSpPr>
        <p:spPr>
          <a:xfrm>
            <a:off x="8212693" y="2931160"/>
            <a:ext cx="299988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A5A8"/>
                </a:solidFill>
                <a:latin typeface="Inter" pitchFamily="34" charset="0"/>
                <a:ea typeface="Inter" pitchFamily="34" charset="-122"/>
                <a:cs typeface="Inter" pitchFamily="34" charset="-120"/>
              </a:rPr>
              <a:t>03</a:t>
            </a:r>
            <a:endParaRPr lang="en-US" sz="1200" dirty="0"/>
          </a:p>
        </p:txBody>
      </p:sp>
      <p:sp>
        <p:nvSpPr>
          <p:cNvPr id="16" name="Text 14"/>
          <p:cNvSpPr/>
          <p:nvPr/>
        </p:nvSpPr>
        <p:spPr>
          <a:xfrm>
            <a:off x="8212693" y="3220720"/>
            <a:ext cx="299988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CFBFB"/>
                </a:solidFill>
                <a:latin typeface="Plus Jakarta Sans" pitchFamily="34" charset="0"/>
                <a:ea typeface="Plus Jakarta Sans" pitchFamily="34" charset="-122"/>
                <a:cs typeface="Plus Jakarta Sans" pitchFamily="34" charset="-120"/>
              </a:rPr>
              <a:t>Act</a:t>
            </a:r>
            <a:endParaRPr lang="en-US" sz="2000" dirty="0"/>
          </a:p>
        </p:txBody>
      </p:sp>
      <p:sp>
        <p:nvSpPr>
          <p:cNvPr id="17" name="Text 15"/>
          <p:cNvSpPr/>
          <p:nvPr/>
        </p:nvSpPr>
        <p:spPr>
          <a:xfrm>
            <a:off x="8212693" y="3601720"/>
            <a:ext cx="299988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CFBFB"/>
                </a:solidFill>
                <a:latin typeface="Inter" pitchFamily="34" charset="0"/>
                <a:ea typeface="Inter" pitchFamily="34" charset="-122"/>
                <a:cs typeface="Inter" pitchFamily="34" charset="-120"/>
              </a:rPr>
              <a:t>Early warning and investigation trigger</a:t>
            </a:r>
            <a:endParaRPr lang="en-US" sz="1400" dirty="0"/>
          </a:p>
        </p:txBody>
      </p:sp>
      <p:sp>
        <p:nvSpPr>
          <p:cNvPr id="18" name="Shape 16"/>
          <p:cNvSpPr/>
          <p:nvPr/>
        </p:nvSpPr>
        <p:spPr>
          <a:xfrm>
            <a:off x="812800" y="4607560"/>
            <a:ext cx="10566400" cy="1214120"/>
          </a:xfrm>
          <a:prstGeom prst="roundRect">
            <a:avLst>
              <a:gd name="adj" fmla="val 8368"/>
            </a:avLst>
          </a:prstGeom>
          <a:solidFill>
            <a:srgbClr val="000000"/>
          </a:solidFill>
          <a:ln/>
        </p:spPr>
      </p:sp>
      <p:sp>
        <p:nvSpPr>
          <p:cNvPr id="19" name="Text 17"/>
          <p:cNvSpPr/>
          <p:nvPr/>
        </p:nvSpPr>
        <p:spPr>
          <a:xfrm>
            <a:off x="1066800" y="5001260"/>
            <a:ext cx="1447800" cy="4521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797D"/>
                </a:solidFill>
                <a:latin typeface="Inter" pitchFamily="34" charset="0"/>
                <a:ea typeface="Inter" pitchFamily="34" charset="-122"/>
                <a:cs typeface="Inter" pitchFamily="34" charset="-120"/>
              </a:rPr>
              <a:t>PILOT TARGETS*</a:t>
            </a:r>
            <a:endParaRPr lang="en-US" sz="1200" dirty="0"/>
          </a:p>
        </p:txBody>
      </p:sp>
      <p:sp>
        <p:nvSpPr>
          <p:cNvPr id="20" name="Text 18"/>
          <p:cNvSpPr/>
          <p:nvPr/>
        </p:nvSpPr>
        <p:spPr>
          <a:xfrm>
            <a:off x="2667000" y="4917440"/>
            <a:ext cx="276442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CFBFB"/>
                </a:solidFill>
                <a:latin typeface="Plus Jakarta Sans" pitchFamily="34" charset="0"/>
                <a:ea typeface="Plus Jakarta Sans" pitchFamily="34" charset="-122"/>
                <a:cs typeface="Plus Jakarta Sans" pitchFamily="34" charset="-120"/>
              </a:rPr>
              <a:t>30–50%</a:t>
            </a:r>
            <a:endParaRPr lang="en-US" sz="2000" dirty="0"/>
          </a:p>
        </p:txBody>
      </p:sp>
      <p:sp>
        <p:nvSpPr>
          <p:cNvPr id="21" name="Text 19"/>
          <p:cNvSpPr/>
          <p:nvPr/>
        </p:nvSpPr>
        <p:spPr>
          <a:xfrm>
            <a:off x="2667000" y="5298440"/>
            <a:ext cx="27644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less initial alert-analysis time</a:t>
            </a:r>
            <a:endParaRPr lang="en-US" sz="1200" dirty="0"/>
          </a:p>
        </p:txBody>
      </p:sp>
      <p:sp>
        <p:nvSpPr>
          <p:cNvPr id="22" name="Text 20"/>
          <p:cNvSpPr/>
          <p:nvPr/>
        </p:nvSpPr>
        <p:spPr>
          <a:xfrm>
            <a:off x="5554107" y="4917440"/>
            <a:ext cx="276450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CFBFB"/>
                </a:solidFill>
                <a:latin typeface="Plus Jakarta Sans" pitchFamily="34" charset="0"/>
                <a:ea typeface="Plus Jakarta Sans" pitchFamily="34" charset="-122"/>
                <a:cs typeface="Plus Jakarta Sans" pitchFamily="34" charset="-120"/>
              </a:rPr>
              <a:t>20–30%</a:t>
            </a:r>
            <a:endParaRPr lang="en-US" sz="2000" dirty="0"/>
          </a:p>
        </p:txBody>
      </p:sp>
      <p:sp>
        <p:nvSpPr>
          <p:cNvPr id="23" name="Text 21"/>
          <p:cNvSpPr/>
          <p:nvPr/>
        </p:nvSpPr>
        <p:spPr>
          <a:xfrm>
            <a:off x="5554107" y="5298440"/>
            <a:ext cx="27645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less low-priority alert workload</a:t>
            </a:r>
            <a:endParaRPr lang="en-US" sz="1200" dirty="0"/>
          </a:p>
        </p:txBody>
      </p:sp>
      <p:sp>
        <p:nvSpPr>
          <p:cNvPr id="24" name="Text 22"/>
          <p:cNvSpPr/>
          <p:nvPr/>
        </p:nvSpPr>
        <p:spPr>
          <a:xfrm>
            <a:off x="8441293" y="4810760"/>
            <a:ext cx="276442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CFBFB"/>
                </a:solidFill>
                <a:latin typeface="Plus Jakarta Sans" pitchFamily="34" charset="0"/>
                <a:ea typeface="Plus Jakarta Sans" pitchFamily="34" charset="-122"/>
                <a:cs typeface="Plus Jakarta Sans" pitchFamily="34" charset="-120"/>
              </a:rPr>
              <a:t>Days</a:t>
            </a:r>
            <a:endParaRPr lang="en-US" sz="2000" dirty="0"/>
          </a:p>
        </p:txBody>
      </p:sp>
      <p:sp>
        <p:nvSpPr>
          <p:cNvPr id="25" name="Text 23"/>
          <p:cNvSpPr/>
          <p:nvPr/>
        </p:nvSpPr>
        <p:spPr>
          <a:xfrm>
            <a:off x="8441293" y="5191760"/>
            <a:ext cx="27644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to identify an emerging fraud pattern, not weeks or months</a:t>
            </a:r>
            <a:endParaRPr lang="en-US" sz="1200" dirty="0"/>
          </a:p>
        </p:txBody>
      </p:sp>
      <p:sp>
        <p:nvSpPr>
          <p:cNvPr id="26" name="Text 24"/>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*Directional pilot targets; to be validated against the bank's current baseline.</a:t>
            </a:r>
            <a:endParaRPr lang="en-US" sz="1200" dirty="0"/>
          </a:p>
        </p:txBody>
      </p:sp>
      <p:sp>
        <p:nvSpPr>
          <p:cNvPr id="27" name="Text 25"/>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80"/>
            <a:ext cx="304800" cy="25400"/>
          </a:xfrm>
          <a:prstGeom prst="rect">
            <a:avLst/>
          </a:prstGeom>
          <a:solidFill>
            <a:srgbClr val="ED1B24"/>
          </a:solidFill>
          <a:ln/>
        </p:spPr>
      </p:sp>
      <p:sp>
        <p:nvSpPr>
          <p:cNvPr id="3" name="Text 1"/>
          <p:cNvSpPr/>
          <p:nvPr/>
        </p:nvSpPr>
        <p:spPr>
          <a:xfrm>
            <a:off x="1219200" y="812800"/>
            <a:ext cx="1633823"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THE PROBLEM</a:t>
            </a:r>
            <a:endParaRPr lang="en-US" sz="1200" dirty="0"/>
          </a:p>
        </p:txBody>
      </p:sp>
      <p:sp>
        <p:nvSpPr>
          <p:cNvPr id="4" name="Text 2"/>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Built for known patterns, slow to adapt</a:t>
            </a:r>
            <a:endParaRPr lang="en-US" sz="3200" dirty="0"/>
          </a:p>
        </p:txBody>
      </p:sp>
      <p:sp>
        <p:nvSpPr>
          <p:cNvPr id="5" name="Shape 3"/>
          <p:cNvSpPr/>
          <p:nvPr/>
        </p:nvSpPr>
        <p:spPr>
          <a:xfrm>
            <a:off x="815975" y="1908175"/>
            <a:ext cx="5708650" cy="3696970"/>
          </a:xfrm>
          <a:prstGeom prst="roundRect">
            <a:avLst>
              <a:gd name="adj" fmla="val 2662"/>
            </a:avLst>
          </a:prstGeom>
          <a:solidFill>
            <a:srgbClr val="FFFFFF"/>
          </a:solidFill>
          <a:ln w="6350">
            <a:solidFill>
              <a:srgbClr val="D9D9D9"/>
            </a:solidFill>
            <a:prstDash val="solid"/>
          </a:ln>
        </p:spPr>
      </p:sp>
      <p:sp>
        <p:nvSpPr>
          <p:cNvPr id="6" name="Text 4"/>
          <p:cNvSpPr/>
          <p:nvPr/>
        </p:nvSpPr>
        <p:spPr>
          <a:xfrm>
            <a:off x="1071880" y="2164080"/>
            <a:ext cx="535274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67171"/>
                </a:solidFill>
                <a:latin typeface="Inter" pitchFamily="34" charset="0"/>
                <a:ea typeface="Inter" pitchFamily="34" charset="-122"/>
                <a:cs typeface="Inter" pitchFamily="34" charset="-120"/>
              </a:rPr>
              <a:t>ALREADY COVERED BY AML AND MONITORING</a:t>
            </a:r>
            <a:endParaRPr lang="en-US" sz="1200" dirty="0"/>
          </a:p>
        </p:txBody>
      </p:sp>
      <p:pic>
        <p:nvPicPr>
          <p:cNvPr id="7" name="Image 0" descr="CheckCircle">    </p:cNvPr>
          <p:cNvPicPr>
            <a:picLocks noChangeAspect="1"/>
          </p:cNvPicPr>
          <p:nvPr/>
        </p:nvPicPr>
        <p:blipFill>
          <a:blip r:embed="rId1"/>
          <a:srcRect l="0" r="0" t="0" b="0"/>
          <a:stretch/>
        </p:blipFill>
        <p:spPr>
          <a:xfrm>
            <a:off x="1071880" y="2552700"/>
            <a:ext cx="203200" cy="203200"/>
          </a:xfrm>
          <a:prstGeom prst="rect">
            <a:avLst/>
          </a:prstGeom>
        </p:spPr>
      </p:pic>
      <p:sp>
        <p:nvSpPr>
          <p:cNvPr id="8" name="Text 5"/>
          <p:cNvSpPr/>
          <p:nvPr/>
        </p:nvSpPr>
        <p:spPr>
          <a:xfrm>
            <a:off x="1376680" y="2529841"/>
            <a:ext cx="22088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Inter" pitchFamily="34" charset="0"/>
                <a:ea typeface="Inter" pitchFamily="34" charset="-122"/>
                <a:cs typeface="Inter" pitchFamily="34" charset="-120"/>
              </a:rPr>
              <a:t>Rapid fund movement</a:t>
            </a:r>
            <a:endParaRPr lang="en-US" sz="1400" dirty="0"/>
          </a:p>
        </p:txBody>
      </p:sp>
      <p:pic>
        <p:nvPicPr>
          <p:cNvPr id="9" name="Image 1" descr="CheckCircle">    </p:cNvPr>
          <p:cNvPicPr>
            <a:picLocks noChangeAspect="1"/>
          </p:cNvPicPr>
          <p:nvPr/>
        </p:nvPicPr>
        <p:blipFill>
          <a:blip r:embed="rId2"/>
          <a:srcRect l="0" r="0" t="0" b="0"/>
          <a:stretch/>
        </p:blipFill>
        <p:spPr>
          <a:xfrm>
            <a:off x="1071880" y="2903220"/>
            <a:ext cx="203200" cy="203200"/>
          </a:xfrm>
          <a:prstGeom prst="rect">
            <a:avLst/>
          </a:prstGeom>
        </p:spPr>
      </p:pic>
      <p:sp>
        <p:nvSpPr>
          <p:cNvPr id="10" name="Text 6"/>
          <p:cNvSpPr/>
          <p:nvPr/>
        </p:nvSpPr>
        <p:spPr>
          <a:xfrm>
            <a:off x="1376680" y="2880361"/>
            <a:ext cx="36900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Inter" pitchFamily="34" charset="0"/>
                <a:ea typeface="Inter" pitchFamily="34" charset="-122"/>
                <a:cs typeface="Inter" pitchFamily="34" charset="-120"/>
              </a:rPr>
              <a:t>Sudden activity in dormant accounts</a:t>
            </a:r>
            <a:endParaRPr lang="en-US" sz="1400" dirty="0"/>
          </a:p>
        </p:txBody>
      </p:sp>
      <p:pic>
        <p:nvPicPr>
          <p:cNvPr id="11" name="Image 2" descr="CheckCircle">    </p:cNvPr>
          <p:cNvPicPr>
            <a:picLocks noChangeAspect="1"/>
          </p:cNvPicPr>
          <p:nvPr/>
        </p:nvPicPr>
        <p:blipFill>
          <a:blip r:embed="rId3"/>
          <a:srcRect l="0" r="0" t="0" b="0"/>
          <a:stretch/>
        </p:blipFill>
        <p:spPr>
          <a:xfrm>
            <a:off x="1071880" y="3253741"/>
            <a:ext cx="203200" cy="203200"/>
          </a:xfrm>
          <a:prstGeom prst="rect">
            <a:avLst/>
          </a:prstGeom>
        </p:spPr>
      </p:pic>
      <p:sp>
        <p:nvSpPr>
          <p:cNvPr id="12" name="Text 7"/>
          <p:cNvSpPr/>
          <p:nvPr/>
        </p:nvSpPr>
        <p:spPr>
          <a:xfrm>
            <a:off x="1376680" y="3230880"/>
            <a:ext cx="305533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Inter" pitchFamily="34" charset="0"/>
                <a:ea typeface="Inter" pitchFamily="34" charset="-122"/>
                <a:cs typeface="Inter" pitchFamily="34" charset="-120"/>
              </a:rPr>
              <a:t>Deviation from peer behaviour</a:t>
            </a:r>
            <a:endParaRPr lang="en-US" sz="1400" dirty="0"/>
          </a:p>
        </p:txBody>
      </p:sp>
      <p:pic>
        <p:nvPicPr>
          <p:cNvPr id="13" name="Image 3" descr="CheckCircle">    </p:cNvPr>
          <p:cNvPicPr>
            <a:picLocks noChangeAspect="1"/>
          </p:cNvPicPr>
          <p:nvPr/>
        </p:nvPicPr>
        <p:blipFill>
          <a:blip r:embed="rId4"/>
          <a:srcRect l="0" r="0" t="0" b="0"/>
          <a:stretch/>
        </p:blipFill>
        <p:spPr>
          <a:xfrm>
            <a:off x="1071880" y="3604261"/>
            <a:ext cx="203200" cy="203200"/>
          </a:xfrm>
          <a:prstGeom prst="rect">
            <a:avLst/>
          </a:prstGeom>
        </p:spPr>
      </p:pic>
      <p:sp>
        <p:nvSpPr>
          <p:cNvPr id="14" name="Text 8"/>
          <p:cNvSpPr/>
          <p:nvPr/>
        </p:nvSpPr>
        <p:spPr>
          <a:xfrm>
            <a:off x="1376680" y="3581400"/>
            <a:ext cx="43697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Inter" pitchFamily="34" charset="0"/>
                <a:ea typeface="Inter" pitchFamily="34" charset="-122"/>
                <a:cs typeface="Inter" pitchFamily="34" charset="-120"/>
              </a:rPr>
              <a:t>Concentration or dispersion of transactions</a:t>
            </a:r>
            <a:endParaRPr lang="en-US" sz="1400" dirty="0"/>
          </a:p>
        </p:txBody>
      </p:sp>
      <p:pic>
        <p:nvPicPr>
          <p:cNvPr id="15" name="Image 4" descr="CheckCircle">    </p:cNvPr>
          <p:cNvPicPr>
            <a:picLocks noChangeAspect="1"/>
          </p:cNvPicPr>
          <p:nvPr/>
        </p:nvPicPr>
        <p:blipFill>
          <a:blip r:embed="rId5"/>
          <a:srcRect l="0" r="0" t="0" b="0"/>
          <a:stretch/>
        </p:blipFill>
        <p:spPr>
          <a:xfrm>
            <a:off x="1071880" y="3954780"/>
            <a:ext cx="203200" cy="203200"/>
          </a:xfrm>
          <a:prstGeom prst="rect">
            <a:avLst/>
          </a:prstGeom>
        </p:spPr>
      </p:pic>
      <p:sp>
        <p:nvSpPr>
          <p:cNvPr id="16" name="Text 9"/>
          <p:cNvSpPr/>
          <p:nvPr/>
        </p:nvSpPr>
        <p:spPr>
          <a:xfrm>
            <a:off x="1376680" y="3931920"/>
            <a:ext cx="33386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Inter" pitchFamily="34" charset="0"/>
                <a:ea typeface="Inter" pitchFamily="34" charset="-122"/>
                <a:cs typeface="Inter" pitchFamily="34" charset="-120"/>
              </a:rPr>
              <a:t>Unusual sender–beneficiary links</a:t>
            </a:r>
            <a:endParaRPr lang="en-US" sz="1400" dirty="0"/>
          </a:p>
        </p:txBody>
      </p:sp>
      <p:pic>
        <p:nvPicPr>
          <p:cNvPr id="17" name="Image 5" descr="line">    </p:cNvPr>
          <p:cNvPicPr>
            <a:picLocks noChangeAspect="1"/>
          </p:cNvPicPr>
          <p:nvPr/>
        </p:nvPicPr>
        <p:blipFill>
          <a:blip r:embed="rId6"/>
          <a:srcRect l="-24" r="-24" t="0" b="0"/>
          <a:stretch/>
        </p:blipFill>
        <p:spPr>
          <a:xfrm>
            <a:off x="1071880" y="4333241"/>
            <a:ext cx="5196840" cy="6350"/>
          </a:xfrm>
          <a:prstGeom prst="rect">
            <a:avLst/>
          </a:prstGeom>
        </p:spPr>
      </p:pic>
      <p:sp>
        <p:nvSpPr>
          <p:cNvPr id="18" name="Text 10"/>
          <p:cNvSpPr/>
          <p:nvPr/>
        </p:nvSpPr>
        <p:spPr>
          <a:xfrm>
            <a:off x="1071880" y="4491991"/>
            <a:ext cx="5352745"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A0B0F"/>
                </a:solidFill>
                <a:latin typeface="Inter" pitchFamily="34" charset="0"/>
                <a:ea typeface="Inter" pitchFamily="34" charset="-122"/>
                <a:cs typeface="Inter" pitchFamily="34" charset="-120"/>
              </a:rPr>
              <a:t>All of them rely on logic, thresholds and patterns that have already been defined.</a:t>
            </a:r>
            <a:endParaRPr lang="en-US" sz="1400" dirty="0"/>
          </a:p>
        </p:txBody>
      </p:sp>
      <p:sp>
        <p:nvSpPr>
          <p:cNvPr id="19" name="Shape 11"/>
          <p:cNvSpPr/>
          <p:nvPr/>
        </p:nvSpPr>
        <p:spPr>
          <a:xfrm>
            <a:off x="6832600" y="1905000"/>
            <a:ext cx="4546600" cy="3703320"/>
          </a:xfrm>
          <a:prstGeom prst="roundRect">
            <a:avLst>
              <a:gd name="adj" fmla="val 2743"/>
            </a:avLst>
          </a:prstGeom>
          <a:solidFill>
            <a:srgbClr val="000000"/>
          </a:solidFill>
          <a:ln/>
        </p:spPr>
      </p:sp>
      <p:sp>
        <p:nvSpPr>
          <p:cNvPr id="20" name="Text 12"/>
          <p:cNvSpPr/>
          <p:nvPr/>
        </p:nvSpPr>
        <p:spPr>
          <a:xfrm>
            <a:off x="7086600" y="2159000"/>
            <a:ext cx="415975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797D"/>
                </a:solidFill>
                <a:latin typeface="Inter" pitchFamily="34" charset="0"/>
                <a:ea typeface="Inter" pitchFamily="34" charset="-122"/>
                <a:cs typeface="Inter" pitchFamily="34" charset="-120"/>
              </a:rPr>
              <a:t>HOW MODELS LEARN TODAY</a:t>
            </a:r>
            <a:endParaRPr lang="en-US" sz="1200" dirty="0"/>
          </a:p>
        </p:txBody>
      </p:sp>
      <p:sp>
        <p:nvSpPr>
          <p:cNvPr id="21" name="Text 13"/>
          <p:cNvSpPr/>
          <p:nvPr/>
        </p:nvSpPr>
        <p:spPr>
          <a:xfrm>
            <a:off x="7089775" y="2527936"/>
            <a:ext cx="1292939" cy="318770"/>
          </a:xfrm>
          <a:prstGeom prst="roundRect">
            <a:avLst>
              <a:gd name="adj" fmla="val 50000"/>
            </a:avLst>
          </a:prstGeom>
          <a:noFill/>
          <a:ln w="6350">
            <a:solidFill>
              <a:srgbClr val="767171"/>
            </a:solidFill>
            <a:prstDash val="solid"/>
          </a:ln>
        </p:spPr>
        <p:txBody>
          <a:bodyPr wrap="none" lIns="0" tIns="0" rIns="0" bIns="0" rtlCol="0" anchor="ctr">
            <a:normAutofit/>
          </a:bodyPr>
          <a:lstStyle/>
          <a:p>
            <a:pPr algn="ctr" indent="0" marL="0">
              <a:lnSpc>
                <a:spcPts val="1680"/>
              </a:lnSpc>
              <a:buNone/>
            </a:pPr>
            <a:r>
              <a:rPr lang="en-US" sz="1200" dirty="0">
                <a:solidFill>
                  <a:srgbClr val="D9D9D9"/>
                </a:solidFill>
                <a:latin typeface="Inter" pitchFamily="34" charset="0"/>
                <a:ea typeface="Inter" pitchFamily="34" charset="-122"/>
                <a:cs typeface="Inter" pitchFamily="34" charset="-120"/>
              </a:rPr>
              <a:t>Historical data</a:t>
            </a:r>
            <a:endParaRPr lang="en-US" sz="1200" dirty="0"/>
          </a:p>
        </p:txBody>
      </p:sp>
      <p:sp>
        <p:nvSpPr>
          <p:cNvPr id="22" name="Text 14"/>
          <p:cNvSpPr/>
          <p:nvPr/>
        </p:nvSpPr>
        <p:spPr>
          <a:xfrm>
            <a:off x="8465265" y="2527936"/>
            <a:ext cx="1911668" cy="318770"/>
          </a:xfrm>
          <a:prstGeom prst="roundRect">
            <a:avLst>
              <a:gd name="adj" fmla="val 50000"/>
            </a:avLst>
          </a:prstGeom>
          <a:noFill/>
          <a:ln w="6350">
            <a:solidFill>
              <a:srgbClr val="767171"/>
            </a:solidFill>
            <a:prstDash val="solid"/>
          </a:ln>
        </p:spPr>
        <p:txBody>
          <a:bodyPr wrap="none" lIns="0" tIns="0" rIns="0" bIns="0" rtlCol="0" anchor="ctr">
            <a:normAutofit/>
          </a:bodyPr>
          <a:lstStyle/>
          <a:p>
            <a:pPr algn="ctr" indent="0" marL="0">
              <a:lnSpc>
                <a:spcPts val="1680"/>
              </a:lnSpc>
              <a:buNone/>
            </a:pPr>
            <a:r>
              <a:rPr lang="en-US" sz="1200" dirty="0">
                <a:solidFill>
                  <a:srgbClr val="D9D9D9"/>
                </a:solidFill>
                <a:latin typeface="Inter" pitchFamily="34" charset="0"/>
                <a:ea typeface="Inter" pitchFamily="34" charset="-122"/>
                <a:cs typeface="Inter" pitchFamily="34" charset="-120"/>
              </a:rPr>
              <a:t>Confirmed fraud cases</a:t>
            </a:r>
            <a:endParaRPr lang="en-US" sz="1200" dirty="0"/>
          </a:p>
        </p:txBody>
      </p:sp>
      <p:sp>
        <p:nvSpPr>
          <p:cNvPr id="23" name="Text 15"/>
          <p:cNvSpPr/>
          <p:nvPr/>
        </p:nvSpPr>
        <p:spPr>
          <a:xfrm>
            <a:off x="7089775" y="2929255"/>
            <a:ext cx="1443117" cy="318770"/>
          </a:xfrm>
          <a:prstGeom prst="roundRect">
            <a:avLst>
              <a:gd name="adj" fmla="val 50000"/>
            </a:avLst>
          </a:prstGeom>
          <a:noFill/>
          <a:ln w="6350">
            <a:solidFill>
              <a:srgbClr val="767171"/>
            </a:solidFill>
            <a:prstDash val="solid"/>
          </a:ln>
        </p:spPr>
        <p:txBody>
          <a:bodyPr wrap="none" lIns="0" tIns="0" rIns="0" bIns="0" rtlCol="0" anchor="ctr">
            <a:normAutofit/>
          </a:bodyPr>
          <a:lstStyle/>
          <a:p>
            <a:pPr algn="ctr" indent="0" marL="0">
              <a:lnSpc>
                <a:spcPts val="1680"/>
              </a:lnSpc>
              <a:buNone/>
            </a:pPr>
            <a:r>
              <a:rPr lang="en-US" sz="1200" dirty="0">
                <a:solidFill>
                  <a:srgbClr val="D9D9D9"/>
                </a:solidFill>
                <a:latin typeface="Inter" pitchFamily="34" charset="0"/>
                <a:ea typeface="Inter" pitchFamily="34" charset="-122"/>
                <a:cs typeface="Inter" pitchFamily="34" charset="-120"/>
              </a:rPr>
              <a:t>Predefined rules</a:t>
            </a:r>
            <a:endParaRPr lang="en-US" sz="1200" dirty="0"/>
          </a:p>
        </p:txBody>
      </p:sp>
      <p:sp>
        <p:nvSpPr>
          <p:cNvPr id="24" name="Text 16"/>
          <p:cNvSpPr/>
          <p:nvPr/>
        </p:nvSpPr>
        <p:spPr>
          <a:xfrm>
            <a:off x="8615442" y="2929255"/>
            <a:ext cx="1808083" cy="318770"/>
          </a:xfrm>
          <a:prstGeom prst="roundRect">
            <a:avLst>
              <a:gd name="adj" fmla="val 50000"/>
            </a:avLst>
          </a:prstGeom>
          <a:noFill/>
          <a:ln w="6350">
            <a:solidFill>
              <a:srgbClr val="767171"/>
            </a:solidFill>
            <a:prstDash val="solid"/>
          </a:ln>
        </p:spPr>
        <p:txBody>
          <a:bodyPr wrap="none" lIns="0" tIns="0" rIns="0" bIns="0" rtlCol="0" anchor="ctr">
            <a:normAutofit/>
          </a:bodyPr>
          <a:lstStyle/>
          <a:p>
            <a:pPr algn="ctr" indent="0" marL="0">
              <a:lnSpc>
                <a:spcPts val="1680"/>
              </a:lnSpc>
              <a:buNone/>
            </a:pPr>
            <a:r>
              <a:rPr lang="en-US" sz="1200" dirty="0">
                <a:solidFill>
                  <a:srgbClr val="D9D9D9"/>
                </a:solidFill>
                <a:latin typeface="Inter" pitchFamily="34" charset="0"/>
                <a:ea typeface="Inter" pitchFamily="34" charset="-122"/>
                <a:cs typeface="Inter" pitchFamily="34" charset="-120"/>
              </a:rPr>
              <a:t>Known risk indicators</a:t>
            </a:r>
            <a:endParaRPr lang="en-US" sz="1200" dirty="0"/>
          </a:p>
        </p:txBody>
      </p:sp>
      <p:sp>
        <p:nvSpPr>
          <p:cNvPr id="25" name="Text 17"/>
          <p:cNvSpPr/>
          <p:nvPr/>
        </p:nvSpPr>
        <p:spPr>
          <a:xfrm>
            <a:off x="7086600" y="3556000"/>
            <a:ext cx="4159758" cy="12446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CFBFB"/>
                </a:solidFill>
                <a:latin typeface="Plus Jakarta Sans" pitchFamily="34" charset="0"/>
                <a:ea typeface="Plus Jakarta Sans" pitchFamily="34" charset="-122"/>
                <a:cs typeface="Plus Jakarta Sans" pitchFamily="34" charset="-120"/>
              </a:rPr>
              <a:t>They can respond too slowly when behaviour, fraud techniques, products and channels evolve</a:t>
            </a:r>
            <a:endParaRPr lang="en-US" sz="2000" dirty="0"/>
          </a:p>
        </p:txBody>
      </p:sp>
      <p:sp>
        <p:nvSpPr>
          <p:cNvPr id="26" name="Text 18"/>
          <p:cNvSpPr/>
          <p:nvPr/>
        </p:nvSpPr>
        <p:spPr>
          <a:xfrm>
            <a:off x="7086600" y="4927600"/>
            <a:ext cx="415975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New variants can appear before enough confirmed cases exist to train on.</a:t>
            </a:r>
            <a:endParaRPr lang="en-US" sz="1200" dirty="0"/>
          </a:p>
        </p:txBody>
      </p:sp>
      <p:sp>
        <p:nvSpPr>
          <p:cNvPr id="27" name="Text 19"/>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ClaimIQ · Emerging Risk and Fraud Discovery</a:t>
            </a:r>
            <a:endParaRPr lang="en-US" sz="1200" dirty="0"/>
          </a:p>
        </p:txBody>
      </p:sp>
      <p:sp>
        <p:nvSpPr>
          <p:cNvPr id="28" name="Text 20"/>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80"/>
            <a:ext cx="304800" cy="25400"/>
          </a:xfrm>
          <a:prstGeom prst="rect">
            <a:avLst/>
          </a:prstGeom>
          <a:solidFill>
            <a:srgbClr val="ED1B24"/>
          </a:solidFill>
          <a:ln/>
        </p:spPr>
      </p:sp>
      <p:sp>
        <p:nvSpPr>
          <p:cNvPr id="3" name="Text 1"/>
          <p:cNvSpPr/>
          <p:nvPr/>
        </p:nvSpPr>
        <p:spPr>
          <a:xfrm>
            <a:off x="1219200" y="812800"/>
            <a:ext cx="2228660"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THE GAP TO SOLVE</a:t>
            </a:r>
            <a:endParaRPr lang="en-US" sz="1200" dirty="0"/>
          </a:p>
        </p:txBody>
      </p:sp>
      <p:sp>
        <p:nvSpPr>
          <p:cNvPr id="4" name="Text 2"/>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Six gaps ClaimIQ is built to close</a:t>
            </a:r>
            <a:endParaRPr lang="en-US" sz="3200" dirty="0"/>
          </a:p>
        </p:txBody>
      </p:sp>
      <p:sp>
        <p:nvSpPr>
          <p:cNvPr id="5" name="Shape 3"/>
          <p:cNvSpPr/>
          <p:nvPr/>
        </p:nvSpPr>
        <p:spPr>
          <a:xfrm>
            <a:off x="815975" y="1806575"/>
            <a:ext cx="3414157" cy="1167130"/>
          </a:xfrm>
          <a:prstGeom prst="roundRect">
            <a:avLst>
              <a:gd name="adj" fmla="val 8433"/>
            </a:avLst>
          </a:prstGeom>
          <a:solidFill>
            <a:srgbClr val="FFFFFF"/>
          </a:solidFill>
          <a:ln w="6350">
            <a:solidFill>
              <a:srgbClr val="D9D9D9"/>
            </a:solidFill>
            <a:prstDash val="solid"/>
          </a:ln>
        </p:spPr>
      </p:sp>
      <p:sp>
        <p:nvSpPr>
          <p:cNvPr id="6" name="Text 4"/>
          <p:cNvSpPr/>
          <p:nvPr/>
        </p:nvSpPr>
        <p:spPr>
          <a:xfrm>
            <a:off x="1021080" y="2011680"/>
            <a:ext cx="24876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D1B24"/>
                </a:solidFill>
                <a:latin typeface="Plus Jakarta Sans" pitchFamily="34" charset="0"/>
                <a:ea typeface="Plus Jakarta Sans" pitchFamily="34" charset="-122"/>
                <a:cs typeface="Plus Jakarta Sans" pitchFamily="34" charset="-120"/>
              </a:rPr>
              <a:t>01</a:t>
            </a:r>
            <a:endParaRPr lang="en-US" sz="1400" dirty="0"/>
          </a:p>
        </p:txBody>
      </p:sp>
      <p:sp>
        <p:nvSpPr>
          <p:cNvPr id="7" name="Text 5"/>
          <p:cNvSpPr/>
          <p:nvPr/>
        </p:nvSpPr>
        <p:spPr>
          <a:xfrm>
            <a:off x="1295241" y="2016761"/>
            <a:ext cx="215331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Never-seen patterns</a:t>
            </a:r>
            <a:endParaRPr lang="en-US" sz="1400" dirty="0"/>
          </a:p>
        </p:txBody>
      </p:sp>
      <p:sp>
        <p:nvSpPr>
          <p:cNvPr id="8" name="Text 6"/>
          <p:cNvSpPr/>
          <p:nvPr/>
        </p:nvSpPr>
        <p:spPr>
          <a:xfrm>
            <a:off x="1021080" y="234188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Fraud patterns that have never appeared before or are not yet labelled.</a:t>
            </a:r>
            <a:endParaRPr lang="en-US" sz="1200" dirty="0"/>
          </a:p>
        </p:txBody>
      </p:sp>
      <p:sp>
        <p:nvSpPr>
          <p:cNvPr id="9" name="Shape 7"/>
          <p:cNvSpPr/>
          <p:nvPr/>
        </p:nvSpPr>
        <p:spPr>
          <a:xfrm>
            <a:off x="4388882" y="1806575"/>
            <a:ext cx="3414157" cy="1167130"/>
          </a:xfrm>
          <a:prstGeom prst="roundRect">
            <a:avLst>
              <a:gd name="adj" fmla="val 8433"/>
            </a:avLst>
          </a:prstGeom>
          <a:solidFill>
            <a:srgbClr val="FFFFFF"/>
          </a:solidFill>
          <a:ln w="6350">
            <a:solidFill>
              <a:srgbClr val="D9D9D9"/>
            </a:solidFill>
            <a:prstDash val="solid"/>
          </a:ln>
        </p:spPr>
      </p:sp>
      <p:sp>
        <p:nvSpPr>
          <p:cNvPr id="10" name="Text 8"/>
          <p:cNvSpPr/>
          <p:nvPr/>
        </p:nvSpPr>
        <p:spPr>
          <a:xfrm>
            <a:off x="4593987" y="2011680"/>
            <a:ext cx="28130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D1B24"/>
                </a:solidFill>
                <a:latin typeface="Plus Jakarta Sans" pitchFamily="34" charset="0"/>
                <a:ea typeface="Plus Jakarta Sans" pitchFamily="34" charset="-122"/>
                <a:cs typeface="Plus Jakarta Sans" pitchFamily="34" charset="-120"/>
              </a:rPr>
              <a:t>02</a:t>
            </a:r>
            <a:endParaRPr lang="en-US" sz="1400" dirty="0"/>
          </a:p>
        </p:txBody>
      </p:sp>
      <p:sp>
        <p:nvSpPr>
          <p:cNvPr id="11" name="Text 9"/>
          <p:cNvSpPr/>
          <p:nvPr/>
        </p:nvSpPr>
        <p:spPr>
          <a:xfrm>
            <a:off x="4900692" y="2016761"/>
            <a:ext cx="136683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New variants</a:t>
            </a:r>
            <a:endParaRPr lang="en-US" sz="1400" dirty="0"/>
          </a:p>
        </p:txBody>
      </p:sp>
      <p:sp>
        <p:nvSpPr>
          <p:cNvPr id="12" name="Text 10"/>
          <p:cNvSpPr/>
          <p:nvPr/>
        </p:nvSpPr>
        <p:spPr>
          <a:xfrm>
            <a:off x="4593987" y="234188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New variants of known methods, before enough confirmed cases exist to train on.</a:t>
            </a:r>
            <a:endParaRPr lang="en-US" sz="1200" dirty="0"/>
          </a:p>
        </p:txBody>
      </p:sp>
      <p:sp>
        <p:nvSpPr>
          <p:cNvPr id="13" name="Shape 11"/>
          <p:cNvSpPr/>
          <p:nvPr/>
        </p:nvSpPr>
        <p:spPr>
          <a:xfrm>
            <a:off x="7961789" y="1806575"/>
            <a:ext cx="3414157" cy="1167130"/>
          </a:xfrm>
          <a:prstGeom prst="roundRect">
            <a:avLst>
              <a:gd name="adj" fmla="val 8433"/>
            </a:avLst>
          </a:prstGeom>
          <a:solidFill>
            <a:srgbClr val="FFFFFF"/>
          </a:solidFill>
          <a:ln w="6350">
            <a:solidFill>
              <a:srgbClr val="D9D9D9"/>
            </a:solidFill>
            <a:prstDash val="solid"/>
          </a:ln>
        </p:spPr>
      </p:sp>
      <p:sp>
        <p:nvSpPr>
          <p:cNvPr id="14" name="Text 12"/>
          <p:cNvSpPr/>
          <p:nvPr/>
        </p:nvSpPr>
        <p:spPr>
          <a:xfrm>
            <a:off x="8166894" y="2011680"/>
            <a:ext cx="28408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D1B24"/>
                </a:solidFill>
                <a:latin typeface="Plus Jakarta Sans" pitchFamily="34" charset="0"/>
                <a:ea typeface="Plus Jakarta Sans" pitchFamily="34" charset="-122"/>
                <a:cs typeface="Plus Jakarta Sans" pitchFamily="34" charset="-120"/>
              </a:rPr>
              <a:t>03</a:t>
            </a:r>
            <a:endParaRPr lang="en-US" sz="1400" dirty="0"/>
          </a:p>
        </p:txBody>
      </p:sp>
      <p:sp>
        <p:nvSpPr>
          <p:cNvPr id="15" name="Text 13"/>
          <p:cNvSpPr/>
          <p:nvPr/>
        </p:nvSpPr>
        <p:spPr>
          <a:xfrm>
            <a:off x="8476377" y="2016761"/>
            <a:ext cx="23893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Coordinated behaviour</a:t>
            </a:r>
            <a:endParaRPr lang="en-US" sz="1400" dirty="0"/>
          </a:p>
        </p:txBody>
      </p:sp>
      <p:sp>
        <p:nvSpPr>
          <p:cNvPr id="16" name="Text 14"/>
          <p:cNvSpPr/>
          <p:nvPr/>
        </p:nvSpPr>
        <p:spPr>
          <a:xfrm>
            <a:off x="8166894" y="234188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Coordination across customers, accounts, devices and counterparties.</a:t>
            </a:r>
            <a:endParaRPr lang="en-US" sz="1200" dirty="0"/>
          </a:p>
        </p:txBody>
      </p:sp>
      <p:sp>
        <p:nvSpPr>
          <p:cNvPr id="17" name="Shape 15"/>
          <p:cNvSpPr/>
          <p:nvPr/>
        </p:nvSpPr>
        <p:spPr>
          <a:xfrm>
            <a:off x="815975" y="3132455"/>
            <a:ext cx="3414157" cy="1167130"/>
          </a:xfrm>
          <a:prstGeom prst="roundRect">
            <a:avLst>
              <a:gd name="adj" fmla="val 8433"/>
            </a:avLst>
          </a:prstGeom>
          <a:solidFill>
            <a:srgbClr val="FFFFFF"/>
          </a:solidFill>
          <a:ln w="6350">
            <a:solidFill>
              <a:srgbClr val="D9D9D9"/>
            </a:solidFill>
            <a:prstDash val="solid"/>
          </a:ln>
        </p:spPr>
      </p:sp>
      <p:sp>
        <p:nvSpPr>
          <p:cNvPr id="18" name="Text 16"/>
          <p:cNvSpPr/>
          <p:nvPr/>
        </p:nvSpPr>
        <p:spPr>
          <a:xfrm>
            <a:off x="1021080" y="3337561"/>
            <a:ext cx="2929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D1B24"/>
                </a:solidFill>
                <a:latin typeface="Plus Jakarta Sans" pitchFamily="34" charset="0"/>
                <a:ea typeface="Plus Jakarta Sans" pitchFamily="34" charset="-122"/>
                <a:cs typeface="Plus Jakarta Sans" pitchFamily="34" charset="-120"/>
              </a:rPr>
              <a:t>04</a:t>
            </a:r>
            <a:endParaRPr lang="en-US" sz="1400" dirty="0"/>
          </a:p>
        </p:txBody>
      </p:sp>
      <p:sp>
        <p:nvSpPr>
          <p:cNvPr id="19" name="Text 17"/>
          <p:cNvSpPr/>
          <p:nvPr/>
        </p:nvSpPr>
        <p:spPr>
          <a:xfrm>
            <a:off x="1339453" y="3342641"/>
            <a:ext cx="168211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Trend, not noise</a:t>
            </a:r>
            <a:endParaRPr lang="en-US" sz="1400" dirty="0"/>
          </a:p>
        </p:txBody>
      </p:sp>
      <p:sp>
        <p:nvSpPr>
          <p:cNvPr id="20" name="Text 18"/>
          <p:cNvSpPr/>
          <p:nvPr/>
        </p:nvSpPr>
        <p:spPr>
          <a:xfrm>
            <a:off x="1021080" y="36677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Separate isolated anomalies from an emerging, expanding risk trend.</a:t>
            </a:r>
            <a:endParaRPr lang="en-US" sz="1200" dirty="0"/>
          </a:p>
        </p:txBody>
      </p:sp>
      <p:sp>
        <p:nvSpPr>
          <p:cNvPr id="21" name="Shape 19"/>
          <p:cNvSpPr/>
          <p:nvPr/>
        </p:nvSpPr>
        <p:spPr>
          <a:xfrm>
            <a:off x="4388882" y="3132455"/>
            <a:ext cx="3414157" cy="1167130"/>
          </a:xfrm>
          <a:prstGeom prst="roundRect">
            <a:avLst>
              <a:gd name="adj" fmla="val 8433"/>
            </a:avLst>
          </a:prstGeom>
          <a:solidFill>
            <a:srgbClr val="FFFFFF"/>
          </a:solidFill>
          <a:ln w="6350">
            <a:solidFill>
              <a:srgbClr val="D9D9D9"/>
            </a:solidFill>
            <a:prstDash val="solid"/>
          </a:ln>
        </p:spPr>
      </p:sp>
      <p:sp>
        <p:nvSpPr>
          <p:cNvPr id="22" name="Text 20"/>
          <p:cNvSpPr/>
          <p:nvPr/>
        </p:nvSpPr>
        <p:spPr>
          <a:xfrm>
            <a:off x="4593987" y="3337561"/>
            <a:ext cx="2844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D1B24"/>
                </a:solidFill>
                <a:latin typeface="Plus Jakarta Sans" pitchFamily="34" charset="0"/>
                <a:ea typeface="Plus Jakarta Sans" pitchFamily="34" charset="-122"/>
                <a:cs typeface="Plus Jakarta Sans" pitchFamily="34" charset="-120"/>
              </a:rPr>
              <a:t>05</a:t>
            </a:r>
            <a:endParaRPr lang="en-US" sz="1400" dirty="0"/>
          </a:p>
        </p:txBody>
      </p:sp>
      <p:sp>
        <p:nvSpPr>
          <p:cNvPr id="23" name="Text 21"/>
          <p:cNvSpPr/>
          <p:nvPr/>
        </p:nvSpPr>
        <p:spPr>
          <a:xfrm>
            <a:off x="4903867" y="3342641"/>
            <a:ext cx="14340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Early warning</a:t>
            </a:r>
            <a:endParaRPr lang="en-US" sz="1400" dirty="0"/>
          </a:p>
        </p:txBody>
      </p:sp>
      <p:sp>
        <p:nvSpPr>
          <p:cNvPr id="24" name="Text 22"/>
          <p:cNvSpPr/>
          <p:nvPr/>
        </p:nvSpPr>
        <p:spPr>
          <a:xfrm>
            <a:off x="4593987" y="36677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Warn before a pattern becomes material financial or operational loss.</a:t>
            </a:r>
            <a:endParaRPr lang="en-US" sz="1200" dirty="0"/>
          </a:p>
        </p:txBody>
      </p:sp>
      <p:sp>
        <p:nvSpPr>
          <p:cNvPr id="25" name="Shape 23"/>
          <p:cNvSpPr/>
          <p:nvPr/>
        </p:nvSpPr>
        <p:spPr>
          <a:xfrm>
            <a:off x="7961789" y="3132455"/>
            <a:ext cx="3414157" cy="1167130"/>
          </a:xfrm>
          <a:prstGeom prst="roundRect">
            <a:avLst>
              <a:gd name="adj" fmla="val 8433"/>
            </a:avLst>
          </a:prstGeom>
          <a:solidFill>
            <a:srgbClr val="FFFFFF"/>
          </a:solidFill>
          <a:ln w="6350">
            <a:solidFill>
              <a:srgbClr val="D9D9D9"/>
            </a:solidFill>
            <a:prstDash val="solid"/>
          </a:ln>
        </p:spPr>
      </p:sp>
      <p:sp>
        <p:nvSpPr>
          <p:cNvPr id="26" name="Text 24"/>
          <p:cNvSpPr/>
          <p:nvPr/>
        </p:nvSpPr>
        <p:spPr>
          <a:xfrm>
            <a:off x="8166894" y="3337561"/>
            <a:ext cx="2826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D1B24"/>
                </a:solidFill>
                <a:latin typeface="Plus Jakarta Sans" pitchFamily="34" charset="0"/>
                <a:ea typeface="Plus Jakarta Sans" pitchFamily="34" charset="-122"/>
                <a:cs typeface="Plus Jakarta Sans" pitchFamily="34" charset="-120"/>
              </a:rPr>
              <a:t>06</a:t>
            </a:r>
            <a:endParaRPr lang="en-US" sz="1400" dirty="0"/>
          </a:p>
        </p:txBody>
      </p:sp>
      <p:sp>
        <p:nvSpPr>
          <p:cNvPr id="27" name="Text 25"/>
          <p:cNvSpPr/>
          <p:nvPr/>
        </p:nvSpPr>
        <p:spPr>
          <a:xfrm>
            <a:off x="8474949" y="3342641"/>
            <a:ext cx="15979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Evidence to act</a:t>
            </a:r>
            <a:endParaRPr lang="en-US" sz="1400" dirty="0"/>
          </a:p>
        </p:txBody>
      </p:sp>
      <p:sp>
        <p:nvSpPr>
          <p:cNvPr id="28" name="Text 26"/>
          <p:cNvSpPr/>
          <p:nvPr/>
        </p:nvSpPr>
        <p:spPr>
          <a:xfrm>
            <a:off x="8166894" y="36677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Explain why a signal matters, with evidence an analyst can investigate.</a:t>
            </a:r>
            <a:endParaRPr lang="en-US" sz="1200" dirty="0"/>
          </a:p>
        </p:txBody>
      </p:sp>
      <p:sp>
        <p:nvSpPr>
          <p:cNvPr id="29" name="Shape 27"/>
          <p:cNvSpPr/>
          <p:nvPr/>
        </p:nvSpPr>
        <p:spPr>
          <a:xfrm>
            <a:off x="812800" y="4505961"/>
            <a:ext cx="10566400" cy="843280"/>
          </a:xfrm>
          <a:prstGeom prst="roundRect">
            <a:avLst>
              <a:gd name="adj" fmla="val 12048"/>
            </a:avLst>
          </a:prstGeom>
          <a:solidFill>
            <a:srgbClr val="ED1B24"/>
          </a:solidFill>
          <a:ln/>
        </p:spPr>
      </p:sp>
      <p:sp>
        <p:nvSpPr>
          <p:cNvPr id="30" name="Text 28"/>
          <p:cNvSpPr/>
          <p:nvPr/>
        </p:nvSpPr>
        <p:spPr>
          <a:xfrm>
            <a:off x="1066800" y="4683761"/>
            <a:ext cx="47614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D2D4"/>
                </a:solidFill>
                <a:latin typeface="Inter" pitchFamily="34" charset="0"/>
                <a:ea typeface="Inter" pitchFamily="34" charset="-122"/>
                <a:cs typeface="Inter" pitchFamily="34" charset="-120"/>
              </a:rPr>
              <a:t>FROM · REACTIVE RISK MANAGEMENT</a:t>
            </a:r>
            <a:endParaRPr lang="en-US" sz="1200" dirty="0"/>
          </a:p>
        </p:txBody>
      </p:sp>
      <p:sp>
        <p:nvSpPr>
          <p:cNvPr id="31" name="Text 29"/>
          <p:cNvSpPr/>
          <p:nvPr/>
        </p:nvSpPr>
        <p:spPr>
          <a:xfrm>
            <a:off x="1066800" y="4922520"/>
            <a:ext cx="47614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BFB"/>
                </a:solidFill>
                <a:latin typeface="Inter" pitchFamily="34" charset="0"/>
                <a:ea typeface="Inter" pitchFamily="34" charset="-122"/>
                <a:cs typeface="Inter" pitchFamily="34" charset="-120"/>
              </a:rPr>
              <a:t>Controls respond to known typologies</a:t>
            </a:r>
            <a:endParaRPr lang="en-US" sz="1400" dirty="0"/>
          </a:p>
        </p:txBody>
      </p:sp>
      <p:pic>
        <p:nvPicPr>
          <p:cNvPr id="32" name="Image 0" descr="arrow-right">    </p:cNvPr>
          <p:cNvPicPr>
            <a:picLocks noChangeAspect="1"/>
          </p:cNvPicPr>
          <p:nvPr/>
        </p:nvPicPr>
        <p:blipFill>
          <a:blip r:embed="rId1"/>
          <a:srcRect l="0" r="0" t="0" b="0"/>
          <a:stretch/>
        </p:blipFill>
        <p:spPr>
          <a:xfrm>
            <a:off x="5892800" y="4826000"/>
            <a:ext cx="406400" cy="203200"/>
          </a:xfrm>
          <a:prstGeom prst="rect">
            <a:avLst/>
          </a:prstGeom>
        </p:spPr>
      </p:pic>
      <p:sp>
        <p:nvSpPr>
          <p:cNvPr id="33" name="Text 30"/>
          <p:cNvSpPr/>
          <p:nvPr/>
        </p:nvSpPr>
        <p:spPr>
          <a:xfrm>
            <a:off x="6502400" y="4683761"/>
            <a:ext cx="47614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D2D4"/>
                </a:solidFill>
                <a:latin typeface="Inter" pitchFamily="34" charset="0"/>
                <a:ea typeface="Inter" pitchFamily="34" charset="-122"/>
                <a:cs typeface="Inter" pitchFamily="34" charset="-120"/>
              </a:rPr>
              <a:t>TO · PROACTIVE RISK DISCOVERY</a:t>
            </a:r>
            <a:endParaRPr lang="en-US" sz="1200" dirty="0"/>
          </a:p>
        </p:txBody>
      </p:sp>
      <p:sp>
        <p:nvSpPr>
          <p:cNvPr id="34" name="Text 31"/>
          <p:cNvSpPr/>
          <p:nvPr/>
        </p:nvSpPr>
        <p:spPr>
          <a:xfrm>
            <a:off x="6502400" y="4922520"/>
            <a:ext cx="47614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BFB"/>
                </a:solidFill>
                <a:latin typeface="Inter" pitchFamily="34" charset="0"/>
                <a:ea typeface="Inter" pitchFamily="34" charset="-122"/>
                <a:cs typeface="Inter" pitchFamily="34" charset="-120"/>
              </a:rPr>
              <a:t>Find emerging risk and intervene early</a:t>
            </a:r>
            <a:endParaRPr lang="en-US" sz="1400" dirty="0"/>
          </a:p>
        </p:txBody>
      </p:sp>
      <p:sp>
        <p:nvSpPr>
          <p:cNvPr id="35" name="Text 32"/>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ClaimIQ · Emerging Risk and Fraud Discovery</a:t>
            </a:r>
            <a:endParaRPr lang="en-US" sz="1200" dirty="0"/>
          </a:p>
        </p:txBody>
      </p:sp>
      <p:sp>
        <p:nvSpPr>
          <p:cNvPr id="36" name="Text 3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D1B24"/>
          </a:solidFill>
          <a:ln/>
        </p:spPr>
      </p:sp>
      <p:sp>
        <p:nvSpPr>
          <p:cNvPr id="3" name="Text 1"/>
          <p:cNvSpPr/>
          <p:nvPr/>
        </p:nvSpPr>
        <p:spPr>
          <a:xfrm>
            <a:off x="1219200" y="812800"/>
            <a:ext cx="173050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THE SOLUTION</a:t>
            </a:r>
            <a:endParaRPr lang="en-US" sz="1200" dirty="0"/>
          </a:p>
        </p:txBody>
      </p:sp>
      <p:sp>
        <p:nvSpPr>
          <p:cNvPr id="4" name="Text 2"/>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Five capabilities, one continuous loop</a:t>
            </a:r>
            <a:endParaRPr lang="en-US" sz="3200" dirty="0"/>
          </a:p>
        </p:txBody>
      </p:sp>
      <p:sp>
        <p:nvSpPr>
          <p:cNvPr id="5" name="Text 3"/>
          <p:cNvSpPr/>
          <p:nvPr/>
        </p:nvSpPr>
        <p:spPr>
          <a:xfrm>
            <a:off x="812800" y="185420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67171"/>
                </a:solidFill>
                <a:latin typeface="Inter" pitchFamily="34" charset="0"/>
                <a:ea typeface="Inter" pitchFamily="34" charset="-122"/>
                <a:cs typeface="Inter" pitchFamily="34" charset="-120"/>
              </a:rPr>
              <a:t>CONTINUOUSLY ANALYSES</a:t>
            </a:r>
            <a:endParaRPr lang="en-US" sz="1200" dirty="0"/>
          </a:p>
        </p:txBody>
      </p:sp>
      <p:sp>
        <p:nvSpPr>
          <p:cNvPr id="6" name="Text 4"/>
          <p:cNvSpPr/>
          <p:nvPr/>
        </p:nvSpPr>
        <p:spPr>
          <a:xfrm>
            <a:off x="815975" y="2149475"/>
            <a:ext cx="1156891" cy="318770"/>
          </a:xfrm>
          <a:prstGeom prst="roundRect">
            <a:avLst>
              <a:gd name="adj" fmla="val 50000"/>
            </a:avLst>
          </a:prstGeom>
          <a:solidFill>
            <a:srgbClr val="FFFFFF"/>
          </a:solidFill>
          <a:ln w="6350">
            <a:solidFill>
              <a:srgbClr val="D9D9D9"/>
            </a:solidFill>
            <a:prstDash val="solid"/>
          </a:ln>
        </p:spPr>
        <p:txBody>
          <a:bodyPr wrap="none" lIns="0" tIns="0" rIns="0" bIns="0" rtlCol="0" anchor="ctr">
            <a:normAutofit/>
          </a:bodyPr>
          <a:lstStyle/>
          <a:p>
            <a:pPr algn="ctr" indent="0" marL="0">
              <a:lnSpc>
                <a:spcPts val="1680"/>
              </a:lnSpc>
              <a:buNone/>
            </a:pPr>
            <a:r>
              <a:rPr lang="en-US" sz="1200" dirty="0">
                <a:solidFill>
                  <a:srgbClr val="404040"/>
                </a:solidFill>
                <a:latin typeface="Inter" pitchFamily="34" charset="0"/>
                <a:ea typeface="Inter" pitchFamily="34" charset="-122"/>
                <a:cs typeface="Inter" pitchFamily="34" charset="-120"/>
              </a:rPr>
              <a:t>Transactions</a:t>
            </a:r>
            <a:endParaRPr lang="en-US" sz="1200" dirty="0"/>
          </a:p>
        </p:txBody>
      </p:sp>
      <p:sp>
        <p:nvSpPr>
          <p:cNvPr id="7" name="Text 5"/>
          <p:cNvSpPr/>
          <p:nvPr/>
        </p:nvSpPr>
        <p:spPr>
          <a:xfrm>
            <a:off x="2042716" y="2149475"/>
            <a:ext cx="1693704" cy="318770"/>
          </a:xfrm>
          <a:prstGeom prst="roundRect">
            <a:avLst>
              <a:gd name="adj" fmla="val 50000"/>
            </a:avLst>
          </a:prstGeom>
          <a:solidFill>
            <a:srgbClr val="FFFFFF"/>
          </a:solidFill>
          <a:ln w="6350">
            <a:solidFill>
              <a:srgbClr val="D9D9D9"/>
            </a:solidFill>
            <a:prstDash val="solid"/>
          </a:ln>
        </p:spPr>
        <p:txBody>
          <a:bodyPr wrap="none" lIns="0" tIns="0" rIns="0" bIns="0" rtlCol="0" anchor="ctr">
            <a:normAutofit/>
          </a:bodyPr>
          <a:lstStyle/>
          <a:p>
            <a:pPr algn="ctr" indent="0" marL="0">
              <a:lnSpc>
                <a:spcPts val="1680"/>
              </a:lnSpc>
              <a:buNone/>
            </a:pPr>
            <a:r>
              <a:rPr lang="en-US" sz="1200" dirty="0">
                <a:solidFill>
                  <a:srgbClr val="404040"/>
                </a:solidFill>
                <a:latin typeface="Inter" pitchFamily="34" charset="0"/>
                <a:ea typeface="Inter" pitchFamily="34" charset="-122"/>
                <a:cs typeface="Inter" pitchFamily="34" charset="-120"/>
              </a:rPr>
              <a:t>Customer behaviour</a:t>
            </a:r>
            <a:endParaRPr lang="en-US" sz="1200" dirty="0"/>
          </a:p>
        </p:txBody>
      </p:sp>
      <p:sp>
        <p:nvSpPr>
          <p:cNvPr id="8" name="Text 6"/>
          <p:cNvSpPr/>
          <p:nvPr/>
        </p:nvSpPr>
        <p:spPr>
          <a:xfrm>
            <a:off x="3806270" y="2149475"/>
            <a:ext cx="912098" cy="318770"/>
          </a:xfrm>
          <a:prstGeom prst="roundRect">
            <a:avLst>
              <a:gd name="adj" fmla="val 50000"/>
            </a:avLst>
          </a:prstGeom>
          <a:solidFill>
            <a:srgbClr val="FFFFFF"/>
          </a:solidFill>
          <a:ln w="6350">
            <a:solidFill>
              <a:srgbClr val="D9D9D9"/>
            </a:solidFill>
            <a:prstDash val="solid"/>
          </a:ln>
        </p:spPr>
        <p:txBody>
          <a:bodyPr wrap="none" lIns="0" tIns="0" rIns="0" bIns="0" rtlCol="0" anchor="ctr">
            <a:normAutofit/>
          </a:bodyPr>
          <a:lstStyle/>
          <a:p>
            <a:pPr algn="ctr" indent="0" marL="0">
              <a:lnSpc>
                <a:spcPts val="1680"/>
              </a:lnSpc>
              <a:buNone/>
            </a:pPr>
            <a:r>
              <a:rPr lang="en-US" sz="1200" dirty="0">
                <a:solidFill>
                  <a:srgbClr val="404040"/>
                </a:solidFill>
                <a:latin typeface="Inter" pitchFamily="34" charset="0"/>
                <a:ea typeface="Inter" pitchFamily="34" charset="-122"/>
                <a:cs typeface="Inter" pitchFamily="34" charset="-120"/>
              </a:rPr>
              <a:t>Accounts</a:t>
            </a:r>
            <a:endParaRPr lang="en-US" sz="1200" dirty="0"/>
          </a:p>
        </p:txBody>
      </p:sp>
      <p:sp>
        <p:nvSpPr>
          <p:cNvPr id="9" name="Text 7"/>
          <p:cNvSpPr/>
          <p:nvPr/>
        </p:nvSpPr>
        <p:spPr>
          <a:xfrm>
            <a:off x="4788217" y="2149475"/>
            <a:ext cx="807244" cy="318770"/>
          </a:xfrm>
          <a:prstGeom prst="roundRect">
            <a:avLst>
              <a:gd name="adj" fmla="val 50000"/>
            </a:avLst>
          </a:prstGeom>
          <a:solidFill>
            <a:srgbClr val="FFFFFF"/>
          </a:solidFill>
          <a:ln w="6350">
            <a:solidFill>
              <a:srgbClr val="D9D9D9"/>
            </a:solidFill>
            <a:prstDash val="solid"/>
          </a:ln>
        </p:spPr>
        <p:txBody>
          <a:bodyPr wrap="none" lIns="0" tIns="0" rIns="0" bIns="0" rtlCol="0" anchor="ctr">
            <a:normAutofit/>
          </a:bodyPr>
          <a:lstStyle/>
          <a:p>
            <a:pPr algn="ctr" indent="0" marL="0">
              <a:lnSpc>
                <a:spcPts val="1680"/>
              </a:lnSpc>
              <a:buNone/>
            </a:pPr>
            <a:r>
              <a:rPr lang="en-US" sz="1200" dirty="0">
                <a:solidFill>
                  <a:srgbClr val="404040"/>
                </a:solidFill>
                <a:latin typeface="Inter" pitchFamily="34" charset="0"/>
                <a:ea typeface="Inter" pitchFamily="34" charset="-122"/>
                <a:cs typeface="Inter" pitchFamily="34" charset="-120"/>
              </a:rPr>
              <a:t>Devices</a:t>
            </a:r>
            <a:endParaRPr lang="en-US" sz="1200" dirty="0"/>
          </a:p>
        </p:txBody>
      </p:sp>
      <p:sp>
        <p:nvSpPr>
          <p:cNvPr id="10" name="Text 8"/>
          <p:cNvSpPr/>
          <p:nvPr/>
        </p:nvSpPr>
        <p:spPr>
          <a:xfrm>
            <a:off x="5665311" y="2149475"/>
            <a:ext cx="905748" cy="318770"/>
          </a:xfrm>
          <a:prstGeom prst="roundRect">
            <a:avLst>
              <a:gd name="adj" fmla="val 50000"/>
            </a:avLst>
          </a:prstGeom>
          <a:solidFill>
            <a:srgbClr val="FFFFFF"/>
          </a:solidFill>
          <a:ln w="6350">
            <a:solidFill>
              <a:srgbClr val="D9D9D9"/>
            </a:solidFill>
            <a:prstDash val="solid"/>
          </a:ln>
        </p:spPr>
        <p:txBody>
          <a:bodyPr wrap="none" lIns="0" tIns="0" rIns="0" bIns="0" rtlCol="0" anchor="ctr">
            <a:normAutofit/>
          </a:bodyPr>
          <a:lstStyle/>
          <a:p>
            <a:pPr algn="ctr" indent="0" marL="0">
              <a:lnSpc>
                <a:spcPts val="1680"/>
              </a:lnSpc>
              <a:buNone/>
            </a:pPr>
            <a:r>
              <a:rPr lang="en-US" sz="1200" dirty="0">
                <a:solidFill>
                  <a:srgbClr val="404040"/>
                </a:solidFill>
                <a:latin typeface="Inter" pitchFamily="34" charset="0"/>
                <a:ea typeface="Inter" pitchFamily="34" charset="-122"/>
                <a:cs typeface="Inter" pitchFamily="34" charset="-120"/>
              </a:rPr>
              <a:t>Channels</a:t>
            </a:r>
            <a:endParaRPr lang="en-US" sz="1200" dirty="0"/>
          </a:p>
        </p:txBody>
      </p:sp>
      <p:sp>
        <p:nvSpPr>
          <p:cNvPr id="11" name="Text 9"/>
          <p:cNvSpPr/>
          <p:nvPr/>
        </p:nvSpPr>
        <p:spPr>
          <a:xfrm>
            <a:off x="6640909" y="2149475"/>
            <a:ext cx="1189038" cy="318770"/>
          </a:xfrm>
          <a:prstGeom prst="roundRect">
            <a:avLst>
              <a:gd name="adj" fmla="val 50000"/>
            </a:avLst>
          </a:prstGeom>
          <a:solidFill>
            <a:srgbClr val="FFFFFF"/>
          </a:solidFill>
          <a:ln w="6350">
            <a:solidFill>
              <a:srgbClr val="D9D9D9"/>
            </a:solidFill>
            <a:prstDash val="solid"/>
          </a:ln>
        </p:spPr>
        <p:txBody>
          <a:bodyPr wrap="none" lIns="0" tIns="0" rIns="0" bIns="0" rtlCol="0" anchor="ctr">
            <a:normAutofit/>
          </a:bodyPr>
          <a:lstStyle/>
          <a:p>
            <a:pPr algn="ctr" indent="0" marL="0">
              <a:lnSpc>
                <a:spcPts val="1680"/>
              </a:lnSpc>
              <a:buNone/>
            </a:pPr>
            <a:r>
              <a:rPr lang="en-US" sz="1200" dirty="0">
                <a:solidFill>
                  <a:srgbClr val="404040"/>
                </a:solidFill>
                <a:latin typeface="Inter" pitchFamily="34" charset="0"/>
                <a:ea typeface="Inter" pitchFamily="34" charset="-122"/>
                <a:cs typeface="Inter" pitchFamily="34" charset="-120"/>
              </a:rPr>
              <a:t>Relationships</a:t>
            </a:r>
            <a:endParaRPr lang="en-US" sz="1200" dirty="0"/>
          </a:p>
        </p:txBody>
      </p:sp>
      <p:sp>
        <p:nvSpPr>
          <p:cNvPr id="12" name="Text 10"/>
          <p:cNvSpPr/>
          <p:nvPr/>
        </p:nvSpPr>
        <p:spPr>
          <a:xfrm>
            <a:off x="7899797" y="2149475"/>
            <a:ext cx="1901111" cy="318770"/>
          </a:xfrm>
          <a:prstGeom prst="roundRect">
            <a:avLst>
              <a:gd name="adj" fmla="val 50000"/>
            </a:avLst>
          </a:prstGeom>
          <a:solidFill>
            <a:srgbClr val="FFFFFF"/>
          </a:solidFill>
          <a:ln w="6350">
            <a:solidFill>
              <a:srgbClr val="D9D9D9"/>
            </a:solidFill>
            <a:prstDash val="solid"/>
          </a:ln>
        </p:spPr>
        <p:txBody>
          <a:bodyPr wrap="none" lIns="0" tIns="0" rIns="0" bIns="0" rtlCol="0" anchor="ctr">
            <a:normAutofit/>
          </a:bodyPr>
          <a:lstStyle/>
          <a:p>
            <a:pPr algn="ctr" indent="0" marL="0">
              <a:lnSpc>
                <a:spcPts val="1680"/>
              </a:lnSpc>
              <a:buNone/>
            </a:pPr>
            <a:r>
              <a:rPr lang="en-US" sz="1200" dirty="0">
                <a:solidFill>
                  <a:srgbClr val="404040"/>
                </a:solidFill>
                <a:latin typeface="Inter" pitchFamily="34" charset="0"/>
                <a:ea typeface="Inter" pitchFamily="34" charset="-122"/>
                <a:cs typeface="Inter" pitchFamily="34" charset="-120"/>
              </a:rPr>
              <a:t>Investigation outcomes</a:t>
            </a:r>
            <a:endParaRPr lang="en-US" sz="1200" dirty="0"/>
          </a:p>
        </p:txBody>
      </p:sp>
      <p:sp>
        <p:nvSpPr>
          <p:cNvPr id="13" name="Shape 11"/>
          <p:cNvSpPr/>
          <p:nvPr/>
        </p:nvSpPr>
        <p:spPr>
          <a:xfrm>
            <a:off x="812800" y="3096260"/>
            <a:ext cx="6223000" cy="0"/>
          </a:xfrm>
          <a:prstGeom prst="line">
            <a:avLst/>
          </a:prstGeom>
          <a:noFill/>
          <a:ln w="25400">
            <a:solidFill>
              <a:srgbClr val="F3797D"/>
            </a:solidFill>
            <a:prstDash val="solid"/>
          </a:ln>
        </p:spPr>
      </p:sp>
      <p:sp>
        <p:nvSpPr>
          <p:cNvPr id="14" name="Text 12"/>
          <p:cNvSpPr/>
          <p:nvPr/>
        </p:nvSpPr>
        <p:spPr>
          <a:xfrm>
            <a:off x="812800" y="2806700"/>
            <a:ext cx="6409690"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00000"/>
                </a:solidFill>
                <a:latin typeface="Inter" pitchFamily="34" charset="0"/>
                <a:ea typeface="Inter" pitchFamily="34" charset="-122"/>
                <a:cs typeface="Inter" pitchFamily="34" charset="-120"/>
              </a:rPr>
              <a:t>DISCOVER</a:t>
            </a:r>
            <a:endParaRPr lang="en-US" sz="1200" dirty="0"/>
          </a:p>
        </p:txBody>
      </p:sp>
      <p:sp>
        <p:nvSpPr>
          <p:cNvPr id="15" name="Shape 13"/>
          <p:cNvSpPr/>
          <p:nvPr/>
        </p:nvSpPr>
        <p:spPr>
          <a:xfrm>
            <a:off x="7327900" y="3096260"/>
            <a:ext cx="1879600" cy="0"/>
          </a:xfrm>
          <a:prstGeom prst="line">
            <a:avLst/>
          </a:prstGeom>
          <a:noFill/>
          <a:ln w="25400">
            <a:solidFill>
              <a:srgbClr val="ED1B24"/>
            </a:solidFill>
            <a:prstDash val="solid"/>
          </a:ln>
        </p:spPr>
      </p:sp>
      <p:sp>
        <p:nvSpPr>
          <p:cNvPr id="16" name="Text 14"/>
          <p:cNvSpPr/>
          <p:nvPr/>
        </p:nvSpPr>
        <p:spPr>
          <a:xfrm>
            <a:off x="7327900" y="2806700"/>
            <a:ext cx="1935988"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00000"/>
                </a:solidFill>
                <a:latin typeface="Inter" pitchFamily="34" charset="0"/>
                <a:ea typeface="Inter" pitchFamily="34" charset="-122"/>
                <a:cs typeface="Inter" pitchFamily="34" charset="-120"/>
              </a:rPr>
              <a:t>EXPLAIN</a:t>
            </a:r>
            <a:endParaRPr lang="en-US" sz="1200" dirty="0"/>
          </a:p>
        </p:txBody>
      </p:sp>
      <p:sp>
        <p:nvSpPr>
          <p:cNvPr id="17" name="Shape 15"/>
          <p:cNvSpPr/>
          <p:nvPr/>
        </p:nvSpPr>
        <p:spPr>
          <a:xfrm>
            <a:off x="9499600" y="3096260"/>
            <a:ext cx="1879600" cy="0"/>
          </a:xfrm>
          <a:prstGeom prst="line">
            <a:avLst/>
          </a:prstGeom>
          <a:noFill/>
          <a:ln w="25400">
            <a:solidFill>
              <a:srgbClr val="7A0B0F"/>
            </a:solidFill>
            <a:prstDash val="solid"/>
          </a:ln>
        </p:spPr>
      </p:sp>
      <p:sp>
        <p:nvSpPr>
          <p:cNvPr id="18" name="Text 16"/>
          <p:cNvSpPr/>
          <p:nvPr/>
        </p:nvSpPr>
        <p:spPr>
          <a:xfrm>
            <a:off x="9499600" y="2806700"/>
            <a:ext cx="1935988"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00000"/>
                </a:solidFill>
                <a:latin typeface="Inter" pitchFamily="34" charset="0"/>
                <a:ea typeface="Inter" pitchFamily="34" charset="-122"/>
                <a:cs typeface="Inter" pitchFamily="34" charset="-120"/>
              </a:rPr>
              <a:t>ACT</a:t>
            </a:r>
            <a:endParaRPr lang="en-US" sz="1200" dirty="0"/>
          </a:p>
        </p:txBody>
      </p:sp>
      <p:sp>
        <p:nvSpPr>
          <p:cNvPr id="19" name="Shape 17"/>
          <p:cNvSpPr/>
          <p:nvPr/>
        </p:nvSpPr>
        <p:spPr>
          <a:xfrm>
            <a:off x="812800" y="3263900"/>
            <a:ext cx="1879600" cy="1905000"/>
          </a:xfrm>
          <a:prstGeom prst="roundRect">
            <a:avLst>
              <a:gd name="adj" fmla="val 5405"/>
            </a:avLst>
          </a:prstGeom>
          <a:solidFill>
            <a:srgbClr val="FBD2D4"/>
          </a:solidFill>
          <a:ln/>
        </p:spPr>
      </p:sp>
      <p:sp>
        <p:nvSpPr>
          <p:cNvPr id="20" name="Text 18"/>
          <p:cNvSpPr/>
          <p:nvPr/>
        </p:nvSpPr>
        <p:spPr>
          <a:xfrm>
            <a:off x="990600" y="3441700"/>
            <a:ext cx="157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0B0F"/>
                </a:solidFill>
                <a:latin typeface="Inter" pitchFamily="34" charset="0"/>
                <a:ea typeface="Inter" pitchFamily="34" charset="-122"/>
                <a:cs typeface="Inter" pitchFamily="34" charset="-120"/>
              </a:rPr>
              <a:t>01</a:t>
            </a:r>
            <a:endParaRPr lang="en-US" sz="1200" dirty="0"/>
          </a:p>
        </p:txBody>
      </p:sp>
      <p:sp>
        <p:nvSpPr>
          <p:cNvPr id="21" name="Text 19"/>
          <p:cNvSpPr/>
          <p:nvPr/>
        </p:nvSpPr>
        <p:spPr>
          <a:xfrm>
            <a:off x="990600" y="3705861"/>
            <a:ext cx="1574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Detect</a:t>
            </a:r>
            <a:endParaRPr lang="en-US" sz="2000" dirty="0"/>
          </a:p>
        </p:txBody>
      </p:sp>
      <p:sp>
        <p:nvSpPr>
          <p:cNvPr id="22" name="Text 20"/>
          <p:cNvSpPr/>
          <p:nvPr/>
        </p:nvSpPr>
        <p:spPr>
          <a:xfrm>
            <a:off x="990600" y="4061461"/>
            <a:ext cx="15748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Anomalous behaviour, no fraud labels needed</a:t>
            </a:r>
            <a:endParaRPr lang="en-US" sz="1200" dirty="0"/>
          </a:p>
        </p:txBody>
      </p:sp>
      <p:sp>
        <p:nvSpPr>
          <p:cNvPr id="23" name="Shape 21"/>
          <p:cNvSpPr/>
          <p:nvPr/>
        </p:nvSpPr>
        <p:spPr>
          <a:xfrm>
            <a:off x="2984500" y="3263900"/>
            <a:ext cx="1879600" cy="1905000"/>
          </a:xfrm>
          <a:prstGeom prst="roundRect">
            <a:avLst>
              <a:gd name="adj" fmla="val 5405"/>
            </a:avLst>
          </a:prstGeom>
          <a:solidFill>
            <a:srgbClr val="FBD2D4"/>
          </a:solidFill>
          <a:ln/>
        </p:spPr>
      </p:sp>
      <p:sp>
        <p:nvSpPr>
          <p:cNvPr id="24" name="Text 22"/>
          <p:cNvSpPr/>
          <p:nvPr/>
        </p:nvSpPr>
        <p:spPr>
          <a:xfrm>
            <a:off x="3162300" y="3441700"/>
            <a:ext cx="157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0B0F"/>
                </a:solidFill>
                <a:latin typeface="Inter" pitchFamily="34" charset="0"/>
                <a:ea typeface="Inter" pitchFamily="34" charset="-122"/>
                <a:cs typeface="Inter" pitchFamily="34" charset="-120"/>
              </a:rPr>
              <a:t>02</a:t>
            </a:r>
            <a:endParaRPr lang="en-US" sz="1200" dirty="0"/>
          </a:p>
        </p:txBody>
      </p:sp>
      <p:sp>
        <p:nvSpPr>
          <p:cNvPr id="25" name="Text 23"/>
          <p:cNvSpPr/>
          <p:nvPr/>
        </p:nvSpPr>
        <p:spPr>
          <a:xfrm>
            <a:off x="3162300" y="3705861"/>
            <a:ext cx="1574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Connect</a:t>
            </a:r>
            <a:endParaRPr lang="en-US" sz="2000" dirty="0"/>
          </a:p>
        </p:txBody>
      </p:sp>
      <p:sp>
        <p:nvSpPr>
          <p:cNvPr id="26" name="Text 24"/>
          <p:cNvSpPr/>
          <p:nvPr/>
        </p:nvSpPr>
        <p:spPr>
          <a:xfrm>
            <a:off x="3162300" y="4061461"/>
            <a:ext cx="15748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Hidden networks and clusters via graph analytics</a:t>
            </a:r>
            <a:endParaRPr lang="en-US" sz="1200" dirty="0"/>
          </a:p>
        </p:txBody>
      </p:sp>
      <p:sp>
        <p:nvSpPr>
          <p:cNvPr id="27" name="Shape 25"/>
          <p:cNvSpPr/>
          <p:nvPr/>
        </p:nvSpPr>
        <p:spPr>
          <a:xfrm>
            <a:off x="5156200" y="3263900"/>
            <a:ext cx="1879600" cy="1905000"/>
          </a:xfrm>
          <a:prstGeom prst="roundRect">
            <a:avLst>
              <a:gd name="adj" fmla="val 5405"/>
            </a:avLst>
          </a:prstGeom>
          <a:solidFill>
            <a:srgbClr val="FBD2D4"/>
          </a:solidFill>
          <a:ln/>
        </p:spPr>
      </p:sp>
      <p:sp>
        <p:nvSpPr>
          <p:cNvPr id="28" name="Text 26"/>
          <p:cNvSpPr/>
          <p:nvPr/>
        </p:nvSpPr>
        <p:spPr>
          <a:xfrm>
            <a:off x="5334000" y="3441700"/>
            <a:ext cx="157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0B0F"/>
                </a:solidFill>
                <a:latin typeface="Inter" pitchFamily="34" charset="0"/>
                <a:ea typeface="Inter" pitchFamily="34" charset="-122"/>
                <a:cs typeface="Inter" pitchFamily="34" charset="-120"/>
              </a:rPr>
              <a:t>03</a:t>
            </a:r>
            <a:endParaRPr lang="en-US" sz="1200" dirty="0"/>
          </a:p>
        </p:txBody>
      </p:sp>
      <p:sp>
        <p:nvSpPr>
          <p:cNvPr id="29" name="Text 27"/>
          <p:cNvSpPr/>
          <p:nvPr/>
        </p:nvSpPr>
        <p:spPr>
          <a:xfrm>
            <a:off x="5334000" y="3705861"/>
            <a:ext cx="1574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Discover</a:t>
            </a:r>
            <a:endParaRPr lang="en-US" sz="2000" dirty="0"/>
          </a:p>
        </p:txBody>
      </p:sp>
      <p:sp>
        <p:nvSpPr>
          <p:cNvPr id="30" name="Text 28"/>
          <p:cNvSpPr/>
          <p:nvPr/>
        </p:nvSpPr>
        <p:spPr>
          <a:xfrm>
            <a:off x="5334000" y="4061461"/>
            <a:ext cx="15748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Emerging patterns, sized and typed for experts</a:t>
            </a:r>
            <a:endParaRPr lang="en-US" sz="1200" dirty="0"/>
          </a:p>
        </p:txBody>
      </p:sp>
      <p:sp>
        <p:nvSpPr>
          <p:cNvPr id="31" name="Shape 29"/>
          <p:cNvSpPr/>
          <p:nvPr/>
        </p:nvSpPr>
        <p:spPr>
          <a:xfrm>
            <a:off x="7327900" y="3263900"/>
            <a:ext cx="1879600" cy="1905000"/>
          </a:xfrm>
          <a:prstGeom prst="roundRect">
            <a:avLst>
              <a:gd name="adj" fmla="val 5405"/>
            </a:avLst>
          </a:prstGeom>
          <a:solidFill>
            <a:srgbClr val="F3797D"/>
          </a:solidFill>
          <a:ln/>
        </p:spPr>
      </p:sp>
      <p:sp>
        <p:nvSpPr>
          <p:cNvPr id="32" name="Text 30"/>
          <p:cNvSpPr/>
          <p:nvPr/>
        </p:nvSpPr>
        <p:spPr>
          <a:xfrm>
            <a:off x="7505700" y="3441700"/>
            <a:ext cx="157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0000"/>
                </a:solidFill>
                <a:latin typeface="Inter" pitchFamily="34" charset="0"/>
                <a:ea typeface="Inter" pitchFamily="34" charset="-122"/>
                <a:cs typeface="Inter" pitchFamily="34" charset="-120"/>
              </a:rPr>
              <a:t>04</a:t>
            </a:r>
            <a:endParaRPr lang="en-US" sz="1200" dirty="0"/>
          </a:p>
        </p:txBody>
      </p:sp>
      <p:sp>
        <p:nvSpPr>
          <p:cNvPr id="33" name="Text 31"/>
          <p:cNvSpPr/>
          <p:nvPr/>
        </p:nvSpPr>
        <p:spPr>
          <a:xfrm>
            <a:off x="7505700" y="3705861"/>
            <a:ext cx="1574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Explain</a:t>
            </a:r>
            <a:endParaRPr lang="en-US" sz="2000" dirty="0"/>
          </a:p>
        </p:txBody>
      </p:sp>
      <p:sp>
        <p:nvSpPr>
          <p:cNvPr id="34" name="Text 32"/>
          <p:cNvSpPr/>
          <p:nvPr/>
        </p:nvSpPr>
        <p:spPr>
          <a:xfrm>
            <a:off x="7505700" y="4061461"/>
            <a:ext cx="15748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AI Agent builds the evidence and risk narrative</a:t>
            </a:r>
            <a:endParaRPr lang="en-US" sz="1200" dirty="0"/>
          </a:p>
        </p:txBody>
      </p:sp>
      <p:sp>
        <p:nvSpPr>
          <p:cNvPr id="35" name="Shape 33"/>
          <p:cNvSpPr/>
          <p:nvPr/>
        </p:nvSpPr>
        <p:spPr>
          <a:xfrm>
            <a:off x="9499600" y="3263900"/>
            <a:ext cx="1879600" cy="1905000"/>
          </a:xfrm>
          <a:prstGeom prst="roundRect">
            <a:avLst>
              <a:gd name="adj" fmla="val 5405"/>
            </a:avLst>
          </a:prstGeom>
          <a:solidFill>
            <a:srgbClr val="7A0B0F"/>
          </a:solidFill>
          <a:ln/>
        </p:spPr>
      </p:sp>
      <p:sp>
        <p:nvSpPr>
          <p:cNvPr id="36" name="Text 34"/>
          <p:cNvSpPr/>
          <p:nvPr/>
        </p:nvSpPr>
        <p:spPr>
          <a:xfrm>
            <a:off x="9677400" y="3441700"/>
            <a:ext cx="157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A5A8"/>
                </a:solidFill>
                <a:latin typeface="Inter" pitchFamily="34" charset="0"/>
                <a:ea typeface="Inter" pitchFamily="34" charset="-122"/>
                <a:cs typeface="Inter" pitchFamily="34" charset="-120"/>
              </a:rPr>
              <a:t>05</a:t>
            </a:r>
            <a:endParaRPr lang="en-US" sz="1200" dirty="0"/>
          </a:p>
        </p:txBody>
      </p:sp>
      <p:sp>
        <p:nvSpPr>
          <p:cNvPr id="37" name="Text 35"/>
          <p:cNvSpPr/>
          <p:nvPr/>
        </p:nvSpPr>
        <p:spPr>
          <a:xfrm>
            <a:off x="9677400" y="3705861"/>
            <a:ext cx="1574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CFBFB"/>
                </a:solidFill>
                <a:latin typeface="Plus Jakarta Sans" pitchFamily="34" charset="0"/>
                <a:ea typeface="Plus Jakarta Sans" pitchFamily="34" charset="-122"/>
                <a:cs typeface="Plus Jakarta Sans" pitchFamily="34" charset="-120"/>
              </a:rPr>
              <a:t>Act</a:t>
            </a:r>
            <a:endParaRPr lang="en-US" sz="2000" dirty="0"/>
          </a:p>
        </p:txBody>
      </p:sp>
      <p:sp>
        <p:nvSpPr>
          <p:cNvPr id="38" name="Text 36"/>
          <p:cNvSpPr/>
          <p:nvPr/>
        </p:nvSpPr>
        <p:spPr>
          <a:xfrm>
            <a:off x="9677400" y="4061461"/>
            <a:ext cx="15748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D2D4"/>
                </a:solidFill>
                <a:latin typeface="Inter" pitchFamily="34" charset="0"/>
                <a:ea typeface="Inter" pitchFamily="34" charset="-122"/>
                <a:cs typeface="Inter" pitchFamily="34" charset="-120"/>
              </a:rPr>
              <a:t>Early warning, case creation, human decision</a:t>
            </a:r>
            <a:endParaRPr lang="en-US" sz="1200" dirty="0"/>
          </a:p>
        </p:txBody>
      </p:sp>
      <p:pic>
        <p:nvPicPr>
          <p:cNvPr id="39" name="Image 0" descr="arrow-right">    </p:cNvPr>
          <p:cNvPicPr>
            <a:picLocks noChangeAspect="1"/>
          </p:cNvPicPr>
          <p:nvPr/>
        </p:nvPicPr>
        <p:blipFill>
          <a:blip r:embed="rId1"/>
          <a:srcRect l="0" r="0" t="0" b="0"/>
          <a:stretch/>
        </p:blipFill>
        <p:spPr>
          <a:xfrm>
            <a:off x="2749550" y="4171950"/>
            <a:ext cx="177800" cy="88900"/>
          </a:xfrm>
          <a:prstGeom prst="rect">
            <a:avLst/>
          </a:prstGeom>
        </p:spPr>
      </p:pic>
      <p:pic>
        <p:nvPicPr>
          <p:cNvPr id="40" name="Image 1" descr="arrow-right">    </p:cNvPr>
          <p:cNvPicPr>
            <a:picLocks noChangeAspect="1"/>
          </p:cNvPicPr>
          <p:nvPr/>
        </p:nvPicPr>
        <p:blipFill>
          <a:blip r:embed="rId2"/>
          <a:srcRect l="0" r="0" t="0" b="0"/>
          <a:stretch/>
        </p:blipFill>
        <p:spPr>
          <a:xfrm>
            <a:off x="4921250" y="4171950"/>
            <a:ext cx="177800" cy="88900"/>
          </a:xfrm>
          <a:prstGeom prst="rect">
            <a:avLst/>
          </a:prstGeom>
        </p:spPr>
      </p:pic>
      <p:pic>
        <p:nvPicPr>
          <p:cNvPr id="41" name="Image 2" descr="arrow-right">    </p:cNvPr>
          <p:cNvPicPr>
            <a:picLocks noChangeAspect="1"/>
          </p:cNvPicPr>
          <p:nvPr/>
        </p:nvPicPr>
        <p:blipFill>
          <a:blip r:embed="rId3"/>
          <a:srcRect l="0" r="0" t="0" b="0"/>
          <a:stretch/>
        </p:blipFill>
        <p:spPr>
          <a:xfrm>
            <a:off x="7092950" y="4171950"/>
            <a:ext cx="177800" cy="88900"/>
          </a:xfrm>
          <a:prstGeom prst="rect">
            <a:avLst/>
          </a:prstGeom>
        </p:spPr>
      </p:pic>
      <p:pic>
        <p:nvPicPr>
          <p:cNvPr id="42" name="Image 3" descr="arrow-right">    </p:cNvPr>
          <p:cNvPicPr>
            <a:picLocks noChangeAspect="1"/>
          </p:cNvPicPr>
          <p:nvPr/>
        </p:nvPicPr>
        <p:blipFill>
          <a:blip r:embed="rId4"/>
          <a:srcRect l="0" r="0" t="0" b="0"/>
          <a:stretch/>
        </p:blipFill>
        <p:spPr>
          <a:xfrm>
            <a:off x="9264650" y="4171950"/>
            <a:ext cx="177800" cy="88900"/>
          </a:xfrm>
          <a:prstGeom prst="rect">
            <a:avLst/>
          </a:prstGeom>
        </p:spPr>
      </p:pic>
      <p:pic>
        <p:nvPicPr>
          <p:cNvPr id="43" name="Image 4" descr="Feedback loop from step 5 Act back to step 1 Detect">    </p:cNvPr>
          <p:cNvPicPr>
            <a:picLocks noChangeAspect="1"/>
          </p:cNvPicPr>
          <p:nvPr/>
        </p:nvPicPr>
        <p:blipFill>
          <a:blip r:embed="rId5"/>
          <a:srcRect l="0" r="0" t="-235" b="-235"/>
          <a:stretch/>
        </p:blipFill>
        <p:spPr>
          <a:xfrm>
            <a:off x="812800" y="5219700"/>
            <a:ext cx="10566400" cy="508000"/>
          </a:xfrm>
          <a:prstGeom prst="rect">
            <a:avLst/>
          </a:prstGeom>
        </p:spPr>
      </p:pic>
      <p:sp>
        <p:nvSpPr>
          <p:cNvPr id="44" name="Text 37"/>
          <p:cNvSpPr/>
          <p:nvPr/>
        </p:nvSpPr>
        <p:spPr>
          <a:xfrm>
            <a:off x="4000500" y="5441950"/>
            <a:ext cx="4191000" cy="213360"/>
          </a:xfrm>
          <a:prstGeom prst="rect">
            <a:avLst/>
          </a:prstGeom>
          <a:solidFill>
            <a:srgbClr val="FCFBFB"/>
          </a:solidFill>
          <a:ln/>
        </p:spPr>
        <p:txBody>
          <a:bodyPr wrap="square" lIns="0" tIns="0" rIns="0" bIns="0" rtlCol="0" anchor="t">
            <a:normAutofit/>
          </a:bodyPr>
          <a:lstStyle/>
          <a:p>
            <a:pPr algn="ctr" indent="0" marL="0">
              <a:lnSpc>
                <a:spcPts val="1680"/>
              </a:lnSpc>
              <a:buNone/>
            </a:pPr>
            <a:r>
              <a:rPr lang="en-US" sz="1200" i="1" dirty="0">
                <a:solidFill>
                  <a:srgbClr val="404040"/>
                </a:solidFill>
                <a:latin typeface="Inter" pitchFamily="34" charset="0"/>
                <a:ea typeface="Inter" pitchFamily="34" charset="-122"/>
                <a:cs typeface="Inter" pitchFamily="34" charset="-120"/>
              </a:rPr>
              <a:t>Analyst decisions feed the next learning cycle</a:t>
            </a:r>
            <a:endParaRPr lang="en-US" sz="1200" dirty="0"/>
          </a:p>
        </p:txBody>
      </p:sp>
      <p:sp>
        <p:nvSpPr>
          <p:cNvPr id="45" name="Text 38"/>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ClaimIQ · Emerging Risk and Fraud Discovery</a:t>
            </a:r>
            <a:endParaRPr lang="en-US" sz="1200" dirty="0"/>
          </a:p>
        </p:txBody>
      </p:sp>
      <p:sp>
        <p:nvSpPr>
          <p:cNvPr id="46" name="Text 3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D1B24"/>
          </a:solidFill>
          <a:ln/>
        </p:spPr>
      </p:sp>
      <p:sp>
        <p:nvSpPr>
          <p:cNvPr id="3" name="Text 1"/>
          <p:cNvSpPr/>
          <p:nvPr/>
        </p:nvSpPr>
        <p:spPr>
          <a:xfrm>
            <a:off x="1219200" y="812800"/>
            <a:ext cx="118367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DISCOVER</a:t>
            </a:r>
            <a:endParaRPr lang="en-US" sz="1200" dirty="0"/>
          </a:p>
        </p:txBody>
      </p:sp>
      <p:sp>
        <p:nvSpPr>
          <p:cNvPr id="4" name="Text 2"/>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Three engines that detect the unknown</a:t>
            </a:r>
            <a:endParaRPr lang="en-US" sz="3200" dirty="0"/>
          </a:p>
        </p:txBody>
      </p:sp>
      <p:sp>
        <p:nvSpPr>
          <p:cNvPr id="5" name="Shape 3"/>
          <p:cNvSpPr/>
          <p:nvPr/>
        </p:nvSpPr>
        <p:spPr>
          <a:xfrm>
            <a:off x="815975" y="1857375"/>
            <a:ext cx="3380264" cy="3345180"/>
          </a:xfrm>
          <a:prstGeom prst="roundRect">
            <a:avLst>
              <a:gd name="adj" fmla="val 2942"/>
            </a:avLst>
          </a:prstGeom>
          <a:solidFill>
            <a:srgbClr val="FFFFFF"/>
          </a:solidFill>
          <a:ln w="6350">
            <a:solidFill>
              <a:srgbClr val="D9D9D9"/>
            </a:solidFill>
            <a:prstDash val="solid"/>
          </a:ln>
        </p:spPr>
      </p:sp>
      <p:sp>
        <p:nvSpPr>
          <p:cNvPr id="6" name="Shape 4"/>
          <p:cNvSpPr/>
          <p:nvPr/>
        </p:nvSpPr>
        <p:spPr>
          <a:xfrm>
            <a:off x="1071880" y="2113282"/>
            <a:ext cx="406400" cy="406400"/>
          </a:xfrm>
          <a:prstGeom prst="roundRect">
            <a:avLst>
              <a:gd name="adj" fmla="val 25000"/>
            </a:avLst>
          </a:prstGeom>
          <a:solidFill>
            <a:srgbClr val="FBD2D4"/>
          </a:solidFill>
          <a:ln/>
        </p:spPr>
      </p:sp>
      <p:pic>
        <p:nvPicPr>
          <p:cNvPr id="7" name="Image 0" descr="Activity">    </p:cNvPr>
          <p:cNvPicPr>
            <a:picLocks noChangeAspect="1"/>
          </p:cNvPicPr>
          <p:nvPr/>
        </p:nvPicPr>
        <p:blipFill>
          <a:blip r:embed="rId1"/>
          <a:srcRect l="0" r="0" t="0" b="0"/>
          <a:stretch/>
        </p:blipFill>
        <p:spPr>
          <a:xfrm>
            <a:off x="1160780" y="2202182"/>
            <a:ext cx="228600" cy="228600"/>
          </a:xfrm>
          <a:prstGeom prst="rect">
            <a:avLst/>
          </a:prstGeom>
        </p:spPr>
      </p:pic>
      <p:sp>
        <p:nvSpPr>
          <p:cNvPr id="8" name="Text 5"/>
          <p:cNvSpPr/>
          <p:nvPr/>
        </p:nvSpPr>
        <p:spPr>
          <a:xfrm>
            <a:off x="1071880" y="2646682"/>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Anomalies</a:t>
            </a:r>
            <a:endParaRPr lang="en-US" sz="2000" dirty="0"/>
          </a:p>
        </p:txBody>
      </p:sp>
      <p:sp>
        <p:nvSpPr>
          <p:cNvPr id="9" name="Text 6"/>
          <p:cNvSpPr/>
          <p:nvPr/>
        </p:nvSpPr>
        <p:spPr>
          <a:xfrm>
            <a:off x="1071880" y="2989582"/>
            <a:ext cx="29545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No fraud labels required</a:t>
            </a:r>
            <a:endParaRPr lang="en-US" sz="1200" dirty="0"/>
          </a:p>
        </p:txBody>
      </p:sp>
      <p:pic>
        <p:nvPicPr>
          <p:cNvPr id="10" name="Image 1" descr="line">    </p:cNvPr>
          <p:cNvPicPr>
            <a:picLocks noChangeAspect="1"/>
          </p:cNvPicPr>
          <p:nvPr/>
        </p:nvPicPr>
        <p:blipFill>
          <a:blip r:embed="rId2"/>
          <a:srcRect l="0" r="0" t="-32" b="-32"/>
          <a:stretch/>
        </p:blipFill>
        <p:spPr>
          <a:xfrm>
            <a:off x="1071880" y="3329939"/>
            <a:ext cx="2868454" cy="6350"/>
          </a:xfrm>
          <a:prstGeom prst="rect">
            <a:avLst/>
          </a:prstGeom>
        </p:spPr>
      </p:pic>
      <p:sp>
        <p:nvSpPr>
          <p:cNvPr id="11" name="Shape 7"/>
          <p:cNvSpPr/>
          <p:nvPr/>
        </p:nvSpPr>
        <p:spPr>
          <a:xfrm>
            <a:off x="1071880" y="3545839"/>
            <a:ext cx="50800" cy="50800"/>
          </a:xfrm>
          <a:prstGeom prst="rect">
            <a:avLst/>
          </a:prstGeom>
          <a:solidFill>
            <a:srgbClr val="ED1B24"/>
          </a:solidFill>
          <a:ln/>
        </p:spPr>
      </p:sp>
      <p:sp>
        <p:nvSpPr>
          <p:cNvPr id="12" name="Text 8"/>
          <p:cNvSpPr/>
          <p:nvPr/>
        </p:nvSpPr>
        <p:spPr>
          <a:xfrm>
            <a:off x="1224280" y="3463289"/>
            <a:ext cx="279753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Adaptive baselines per customer, segment and peer group</a:t>
            </a:r>
            <a:endParaRPr lang="en-US" sz="1200" dirty="0"/>
          </a:p>
        </p:txBody>
      </p:sp>
      <p:sp>
        <p:nvSpPr>
          <p:cNvPr id="13" name="Shape 9"/>
          <p:cNvSpPr/>
          <p:nvPr/>
        </p:nvSpPr>
        <p:spPr>
          <a:xfrm>
            <a:off x="1071880" y="4074161"/>
            <a:ext cx="50800" cy="50800"/>
          </a:xfrm>
          <a:prstGeom prst="rect">
            <a:avLst/>
          </a:prstGeom>
          <a:solidFill>
            <a:srgbClr val="ED1B24"/>
          </a:solidFill>
          <a:ln/>
        </p:spPr>
      </p:sp>
      <p:sp>
        <p:nvSpPr>
          <p:cNvPr id="14" name="Text 10"/>
          <p:cNvSpPr/>
          <p:nvPr/>
        </p:nvSpPr>
        <p:spPr>
          <a:xfrm>
            <a:off x="1224280" y="3991611"/>
            <a:ext cx="279753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Flags shifts in frequency, value, timing, channel or counterparty</a:t>
            </a:r>
            <a:endParaRPr lang="en-US" sz="1200" dirty="0"/>
          </a:p>
        </p:txBody>
      </p:sp>
      <p:sp>
        <p:nvSpPr>
          <p:cNvPr id="15" name="Shape 11"/>
          <p:cNvSpPr/>
          <p:nvPr/>
        </p:nvSpPr>
        <p:spPr>
          <a:xfrm>
            <a:off x="1071880" y="4602482"/>
            <a:ext cx="50800" cy="50800"/>
          </a:xfrm>
          <a:prstGeom prst="rect">
            <a:avLst/>
          </a:prstGeom>
          <a:solidFill>
            <a:srgbClr val="ED1B24"/>
          </a:solidFill>
          <a:ln/>
        </p:spPr>
      </p:sp>
      <p:sp>
        <p:nvSpPr>
          <p:cNvPr id="16" name="Text 12"/>
          <p:cNvSpPr/>
          <p:nvPr/>
        </p:nvSpPr>
        <p:spPr>
          <a:xfrm>
            <a:off x="1224280" y="4519932"/>
            <a:ext cx="279753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Combines rare signals across dimensions, not one threshold</a:t>
            </a:r>
            <a:endParaRPr lang="en-US" sz="1200" dirty="0"/>
          </a:p>
        </p:txBody>
      </p:sp>
      <p:sp>
        <p:nvSpPr>
          <p:cNvPr id="17" name="Shape 13"/>
          <p:cNvSpPr/>
          <p:nvPr/>
        </p:nvSpPr>
        <p:spPr>
          <a:xfrm>
            <a:off x="4405789" y="1857375"/>
            <a:ext cx="3380343" cy="3345180"/>
          </a:xfrm>
          <a:prstGeom prst="roundRect">
            <a:avLst>
              <a:gd name="adj" fmla="val 2942"/>
            </a:avLst>
          </a:prstGeom>
          <a:solidFill>
            <a:srgbClr val="FFFFFF"/>
          </a:solidFill>
          <a:ln w="6350">
            <a:solidFill>
              <a:srgbClr val="D9D9D9"/>
            </a:solidFill>
            <a:prstDash val="solid"/>
          </a:ln>
        </p:spPr>
      </p:sp>
      <p:sp>
        <p:nvSpPr>
          <p:cNvPr id="18" name="Shape 14"/>
          <p:cNvSpPr/>
          <p:nvPr/>
        </p:nvSpPr>
        <p:spPr>
          <a:xfrm>
            <a:off x="4661694" y="2113282"/>
            <a:ext cx="406400" cy="406400"/>
          </a:xfrm>
          <a:prstGeom prst="roundRect">
            <a:avLst>
              <a:gd name="adj" fmla="val 25000"/>
            </a:avLst>
          </a:prstGeom>
          <a:solidFill>
            <a:srgbClr val="FBD2D4"/>
          </a:solidFill>
          <a:ln/>
        </p:spPr>
      </p:sp>
      <p:pic>
        <p:nvPicPr>
          <p:cNvPr id="19" name="Image 2" descr="Link">    </p:cNvPr>
          <p:cNvPicPr>
            <a:picLocks noChangeAspect="1"/>
          </p:cNvPicPr>
          <p:nvPr/>
        </p:nvPicPr>
        <p:blipFill>
          <a:blip r:embed="rId3"/>
          <a:srcRect l="0" r="0" t="0" b="0"/>
          <a:stretch/>
        </p:blipFill>
        <p:spPr>
          <a:xfrm>
            <a:off x="4750594" y="2202182"/>
            <a:ext cx="228600" cy="228600"/>
          </a:xfrm>
          <a:prstGeom prst="rect">
            <a:avLst/>
          </a:prstGeom>
        </p:spPr>
      </p:pic>
      <p:sp>
        <p:nvSpPr>
          <p:cNvPr id="20" name="Text 15"/>
          <p:cNvSpPr/>
          <p:nvPr/>
        </p:nvSpPr>
        <p:spPr>
          <a:xfrm>
            <a:off x="4661694" y="2646682"/>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Networks</a:t>
            </a:r>
            <a:endParaRPr lang="en-US" sz="2000" dirty="0"/>
          </a:p>
        </p:txBody>
      </p:sp>
      <p:sp>
        <p:nvSpPr>
          <p:cNvPr id="21" name="Text 16"/>
          <p:cNvSpPr/>
          <p:nvPr/>
        </p:nvSpPr>
        <p:spPr>
          <a:xfrm>
            <a:off x="4661694" y="2989582"/>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Graph analytics</a:t>
            </a:r>
            <a:endParaRPr lang="en-US" sz="1200" dirty="0"/>
          </a:p>
        </p:txBody>
      </p:sp>
      <p:pic>
        <p:nvPicPr>
          <p:cNvPr id="22" name="Image 3" descr="line">    </p:cNvPr>
          <p:cNvPicPr>
            <a:picLocks noChangeAspect="1"/>
          </p:cNvPicPr>
          <p:nvPr/>
        </p:nvPicPr>
        <p:blipFill>
          <a:blip r:embed="rId4"/>
          <a:srcRect l="0" r="0" t="-32" b="-32"/>
          <a:stretch/>
        </p:blipFill>
        <p:spPr>
          <a:xfrm>
            <a:off x="4661694" y="3329939"/>
            <a:ext cx="2868533" cy="6350"/>
          </a:xfrm>
          <a:prstGeom prst="rect">
            <a:avLst/>
          </a:prstGeom>
        </p:spPr>
      </p:pic>
      <p:sp>
        <p:nvSpPr>
          <p:cNvPr id="23" name="Shape 17"/>
          <p:cNvSpPr/>
          <p:nvPr/>
        </p:nvSpPr>
        <p:spPr>
          <a:xfrm>
            <a:off x="4661694" y="3545839"/>
            <a:ext cx="50800" cy="50800"/>
          </a:xfrm>
          <a:prstGeom prst="rect">
            <a:avLst/>
          </a:prstGeom>
          <a:solidFill>
            <a:srgbClr val="ED1B24"/>
          </a:solidFill>
          <a:ln/>
        </p:spPr>
      </p:sp>
      <p:sp>
        <p:nvSpPr>
          <p:cNvPr id="24" name="Text 18"/>
          <p:cNvSpPr/>
          <p:nvPr/>
        </p:nvSpPr>
        <p:spPr>
          <a:xfrm>
            <a:off x="4814094" y="3463289"/>
            <a:ext cx="279761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Links customers, accounts, devices, beneficiaries and fund flows</a:t>
            </a:r>
            <a:endParaRPr lang="en-US" sz="1200" dirty="0"/>
          </a:p>
        </p:txBody>
      </p:sp>
      <p:sp>
        <p:nvSpPr>
          <p:cNvPr id="25" name="Shape 19"/>
          <p:cNvSpPr/>
          <p:nvPr/>
        </p:nvSpPr>
        <p:spPr>
          <a:xfrm>
            <a:off x="4661694" y="4074161"/>
            <a:ext cx="50800" cy="50800"/>
          </a:xfrm>
          <a:prstGeom prst="rect">
            <a:avLst/>
          </a:prstGeom>
          <a:solidFill>
            <a:srgbClr val="ED1B24"/>
          </a:solidFill>
          <a:ln/>
        </p:spPr>
      </p:sp>
      <p:sp>
        <p:nvSpPr>
          <p:cNvPr id="26" name="Text 20"/>
          <p:cNvSpPr/>
          <p:nvPr/>
        </p:nvSpPr>
        <p:spPr>
          <a:xfrm>
            <a:off x="4814094" y="3991611"/>
            <a:ext cx="279761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Exposes shared devices and circular, layered or dispersed flows</a:t>
            </a:r>
            <a:endParaRPr lang="en-US" sz="1200" dirty="0"/>
          </a:p>
        </p:txBody>
      </p:sp>
      <p:sp>
        <p:nvSpPr>
          <p:cNvPr id="27" name="Shape 21"/>
          <p:cNvSpPr/>
          <p:nvPr/>
        </p:nvSpPr>
        <p:spPr>
          <a:xfrm>
            <a:off x="4661694" y="4602482"/>
            <a:ext cx="50800" cy="50800"/>
          </a:xfrm>
          <a:prstGeom prst="rect">
            <a:avLst/>
          </a:prstGeom>
          <a:solidFill>
            <a:srgbClr val="ED1B24"/>
          </a:solidFill>
          <a:ln/>
        </p:spPr>
      </p:sp>
      <p:sp>
        <p:nvSpPr>
          <p:cNvPr id="28" name="Text 22"/>
          <p:cNvSpPr/>
          <p:nvPr/>
        </p:nvSpPr>
        <p:spPr>
          <a:xfrm>
            <a:off x="4814094" y="4519932"/>
            <a:ext cx="279761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Finds coordinated groups even when each account looks normal</a:t>
            </a:r>
            <a:endParaRPr lang="en-US" sz="1200" dirty="0"/>
          </a:p>
        </p:txBody>
      </p:sp>
      <p:sp>
        <p:nvSpPr>
          <p:cNvPr id="29" name="Shape 23"/>
          <p:cNvSpPr/>
          <p:nvPr/>
        </p:nvSpPr>
        <p:spPr>
          <a:xfrm>
            <a:off x="7995682" y="1857375"/>
            <a:ext cx="3380343" cy="3345180"/>
          </a:xfrm>
          <a:prstGeom prst="roundRect">
            <a:avLst>
              <a:gd name="adj" fmla="val 2942"/>
            </a:avLst>
          </a:prstGeom>
          <a:solidFill>
            <a:srgbClr val="FFFFFF"/>
          </a:solidFill>
          <a:ln w="6350">
            <a:solidFill>
              <a:srgbClr val="D9D9D9"/>
            </a:solidFill>
            <a:prstDash val="solid"/>
          </a:ln>
        </p:spPr>
      </p:sp>
      <p:sp>
        <p:nvSpPr>
          <p:cNvPr id="30" name="Shape 24"/>
          <p:cNvSpPr/>
          <p:nvPr/>
        </p:nvSpPr>
        <p:spPr>
          <a:xfrm>
            <a:off x="8251587" y="2113282"/>
            <a:ext cx="406400" cy="406400"/>
          </a:xfrm>
          <a:prstGeom prst="roundRect">
            <a:avLst>
              <a:gd name="adj" fmla="val 25000"/>
            </a:avLst>
          </a:prstGeom>
          <a:solidFill>
            <a:srgbClr val="FBD2D4"/>
          </a:solidFill>
          <a:ln/>
        </p:spPr>
      </p:sp>
      <p:pic>
        <p:nvPicPr>
          <p:cNvPr id="31" name="Image 4" descr="Lightbulb">    </p:cNvPr>
          <p:cNvPicPr>
            <a:picLocks noChangeAspect="1"/>
          </p:cNvPicPr>
          <p:nvPr/>
        </p:nvPicPr>
        <p:blipFill>
          <a:blip r:embed="rId5"/>
          <a:srcRect l="0" r="0" t="0" b="0"/>
          <a:stretch/>
        </p:blipFill>
        <p:spPr>
          <a:xfrm>
            <a:off x="8340487" y="2202182"/>
            <a:ext cx="228600" cy="228600"/>
          </a:xfrm>
          <a:prstGeom prst="rect">
            <a:avLst/>
          </a:prstGeom>
        </p:spPr>
      </p:pic>
      <p:sp>
        <p:nvSpPr>
          <p:cNvPr id="32" name="Text 25"/>
          <p:cNvSpPr/>
          <p:nvPr/>
        </p:nvSpPr>
        <p:spPr>
          <a:xfrm>
            <a:off x="8251587" y="2646682"/>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Emerging patterns</a:t>
            </a:r>
            <a:endParaRPr lang="en-US" sz="2000" dirty="0"/>
          </a:p>
        </p:txBody>
      </p:sp>
      <p:sp>
        <p:nvSpPr>
          <p:cNvPr id="33" name="Text 26"/>
          <p:cNvSpPr/>
          <p:nvPr/>
        </p:nvSpPr>
        <p:spPr>
          <a:xfrm>
            <a:off x="8251587" y="2989582"/>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Automatic pattern discovery</a:t>
            </a:r>
            <a:endParaRPr lang="en-US" sz="1200" dirty="0"/>
          </a:p>
        </p:txBody>
      </p:sp>
      <p:pic>
        <p:nvPicPr>
          <p:cNvPr id="34" name="Image 5" descr="line">    </p:cNvPr>
          <p:cNvPicPr>
            <a:picLocks noChangeAspect="1"/>
          </p:cNvPicPr>
          <p:nvPr/>
        </p:nvPicPr>
        <p:blipFill>
          <a:blip r:embed="rId6"/>
          <a:srcRect l="0" r="0" t="-32" b="-32"/>
          <a:stretch/>
        </p:blipFill>
        <p:spPr>
          <a:xfrm>
            <a:off x="8251587" y="3329939"/>
            <a:ext cx="2868533" cy="6350"/>
          </a:xfrm>
          <a:prstGeom prst="rect">
            <a:avLst/>
          </a:prstGeom>
        </p:spPr>
      </p:pic>
      <p:sp>
        <p:nvSpPr>
          <p:cNvPr id="35" name="Shape 27"/>
          <p:cNvSpPr/>
          <p:nvPr/>
        </p:nvSpPr>
        <p:spPr>
          <a:xfrm>
            <a:off x="8251587" y="3545839"/>
            <a:ext cx="50800" cy="50800"/>
          </a:xfrm>
          <a:prstGeom prst="rect">
            <a:avLst/>
          </a:prstGeom>
          <a:solidFill>
            <a:srgbClr val="ED1B24"/>
          </a:solidFill>
          <a:ln/>
        </p:spPr>
      </p:sp>
      <p:sp>
        <p:nvSpPr>
          <p:cNvPr id="36" name="Text 28"/>
          <p:cNvSpPr/>
          <p:nvPr/>
        </p:nvSpPr>
        <p:spPr>
          <a:xfrm>
            <a:off x="8403987" y="3463289"/>
            <a:ext cx="279761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Clusters unusual events and finds their shared traits</a:t>
            </a:r>
            <a:endParaRPr lang="en-US" sz="1200" dirty="0"/>
          </a:p>
        </p:txBody>
      </p:sp>
      <p:sp>
        <p:nvSpPr>
          <p:cNvPr id="37" name="Shape 29"/>
          <p:cNvSpPr/>
          <p:nvPr/>
        </p:nvSpPr>
        <p:spPr>
          <a:xfrm>
            <a:off x="8251587" y="4074161"/>
            <a:ext cx="50800" cy="50800"/>
          </a:xfrm>
          <a:prstGeom prst="rect">
            <a:avLst/>
          </a:prstGeom>
          <a:solidFill>
            <a:srgbClr val="ED1B24"/>
          </a:solidFill>
          <a:ln/>
        </p:spPr>
      </p:sp>
      <p:sp>
        <p:nvSpPr>
          <p:cNvPr id="38" name="Text 30"/>
          <p:cNvSpPr/>
          <p:nvPr/>
        </p:nvSpPr>
        <p:spPr>
          <a:xfrm>
            <a:off x="8403987" y="3991611"/>
            <a:ext cx="279761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Measures growth and spread; sizes customers and value affected</a:t>
            </a:r>
            <a:endParaRPr lang="en-US" sz="1200" dirty="0"/>
          </a:p>
        </p:txBody>
      </p:sp>
      <p:sp>
        <p:nvSpPr>
          <p:cNvPr id="39" name="Shape 31"/>
          <p:cNvSpPr/>
          <p:nvPr/>
        </p:nvSpPr>
        <p:spPr>
          <a:xfrm>
            <a:off x="8251587" y="4602482"/>
            <a:ext cx="50800" cy="50800"/>
          </a:xfrm>
          <a:prstGeom prst="rect">
            <a:avLst/>
          </a:prstGeom>
          <a:solidFill>
            <a:srgbClr val="ED1B24"/>
          </a:solidFill>
          <a:ln/>
        </p:spPr>
      </p:sp>
      <p:sp>
        <p:nvSpPr>
          <p:cNvPr id="40" name="Text 32"/>
          <p:cNvSpPr/>
          <p:nvPr/>
        </p:nvSpPr>
        <p:spPr>
          <a:xfrm>
            <a:off x="8403987" y="4519932"/>
            <a:ext cx="279761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Proposes candidate typologies and new rules for expert validation</a:t>
            </a:r>
            <a:endParaRPr lang="en-US" sz="1200" dirty="0"/>
          </a:p>
        </p:txBody>
      </p:sp>
      <p:sp>
        <p:nvSpPr>
          <p:cNvPr id="41" name="Text 33"/>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ClaimIQ · Emerging Risk and Fraud Discovery</a:t>
            </a:r>
            <a:endParaRPr lang="en-US" sz="1200" dirty="0"/>
          </a:p>
        </p:txBody>
      </p:sp>
      <p:sp>
        <p:nvSpPr>
          <p:cNvPr id="42" name="Text 3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D1B24"/>
          </a:solidFill>
          <a:ln/>
        </p:spPr>
      </p:sp>
      <p:sp>
        <p:nvSpPr>
          <p:cNvPr id="3" name="Text 1"/>
          <p:cNvSpPr/>
          <p:nvPr/>
        </p:nvSpPr>
        <p:spPr>
          <a:xfrm>
            <a:off x="1219200" y="812800"/>
            <a:ext cx="2832830"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3797D"/>
                </a:solidFill>
                <a:latin typeface="Inter" pitchFamily="34" charset="0"/>
                <a:ea typeface="Inter" pitchFamily="34" charset="-122"/>
                <a:cs typeface="Inter" pitchFamily="34" charset="-120"/>
              </a:rPr>
              <a:t>ILLUSTRATIVE EXAMPLE</a:t>
            </a:r>
            <a:endParaRPr lang="en-US" sz="1200" dirty="0"/>
          </a:p>
        </p:txBody>
      </p:sp>
      <p:sp>
        <p:nvSpPr>
          <p:cNvPr id="4" name="Text 2"/>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CFBFB"/>
                </a:solidFill>
                <a:latin typeface="Plus Jakarta Sans" pitchFamily="34" charset="0"/>
                <a:ea typeface="Plus Jakarta Sans" pitchFamily="34" charset="-122"/>
                <a:cs typeface="Plus Jakarta Sans" pitchFamily="34" charset="-120"/>
              </a:rPr>
              <a:t>Hidden below every individual threshold</a:t>
            </a:r>
            <a:endParaRPr lang="en-US" sz="3200" dirty="0"/>
          </a:p>
        </p:txBody>
      </p:sp>
      <p:sp>
        <p:nvSpPr>
          <p:cNvPr id="5" name="Text 3"/>
          <p:cNvSpPr/>
          <p:nvPr/>
        </p:nvSpPr>
        <p:spPr>
          <a:xfrm>
            <a:off x="812800" y="18542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FABAB"/>
                </a:solidFill>
                <a:latin typeface="Inter" pitchFamily="34" charset="0"/>
                <a:ea typeface="Inter" pitchFamily="34" charset="-122"/>
                <a:cs typeface="Inter" pitchFamily="34" charset="-120"/>
              </a:rPr>
              <a:t>WHAT EACH ALERT SEES</a:t>
            </a:r>
            <a:endParaRPr lang="en-US" sz="1200" dirty="0"/>
          </a:p>
        </p:txBody>
      </p:sp>
      <p:sp>
        <p:nvSpPr>
          <p:cNvPr id="6" name="Text 4"/>
          <p:cNvSpPr/>
          <p:nvPr/>
        </p:nvSpPr>
        <p:spPr>
          <a:xfrm>
            <a:off x="812800" y="2118361"/>
            <a:ext cx="36626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CFBFB"/>
                </a:solidFill>
                <a:latin typeface="Inter" pitchFamily="34" charset="0"/>
                <a:ea typeface="Inter" pitchFamily="34" charset="-122"/>
                <a:cs typeface="Inter" pitchFamily="34" charset="-120"/>
              </a:rPr>
              <a:t>Every newly opened account stays below its individual alert threshold.</a:t>
            </a:r>
            <a:endParaRPr lang="en-US" sz="1400" dirty="0"/>
          </a:p>
        </p:txBody>
      </p:sp>
      <p:sp>
        <p:nvSpPr>
          <p:cNvPr id="7" name="Text 5"/>
          <p:cNvSpPr/>
          <p:nvPr/>
        </p:nvSpPr>
        <p:spPr>
          <a:xfrm>
            <a:off x="812800" y="28702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797D"/>
                </a:solidFill>
                <a:latin typeface="Inter" pitchFamily="34" charset="0"/>
                <a:ea typeface="Inter" pitchFamily="34" charset="-122"/>
                <a:cs typeface="Inter" pitchFamily="34" charset="-120"/>
              </a:rPr>
              <a:t>WHAT CLAIMIQ SEES</a:t>
            </a:r>
            <a:endParaRPr lang="en-US" sz="1200" dirty="0"/>
          </a:p>
        </p:txBody>
      </p:sp>
      <p:pic>
        <p:nvPicPr>
          <p:cNvPr id="8" name="Image 0" descr="Link">    </p:cNvPr>
          <p:cNvPicPr>
            <a:picLocks noChangeAspect="1"/>
          </p:cNvPicPr>
          <p:nvPr/>
        </p:nvPicPr>
        <p:blipFill>
          <a:blip r:embed="rId1"/>
          <a:srcRect l="0" r="0" t="0" b="0"/>
          <a:stretch/>
        </p:blipFill>
        <p:spPr>
          <a:xfrm>
            <a:off x="812800" y="3195321"/>
            <a:ext cx="228600" cy="228600"/>
          </a:xfrm>
          <a:prstGeom prst="rect">
            <a:avLst/>
          </a:prstGeom>
        </p:spPr>
      </p:pic>
      <p:sp>
        <p:nvSpPr>
          <p:cNvPr id="9" name="Text 6"/>
          <p:cNvSpPr/>
          <p:nvPr/>
        </p:nvSpPr>
        <p:spPr>
          <a:xfrm>
            <a:off x="1143000" y="3185161"/>
            <a:ext cx="15560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CFBFB"/>
                </a:solidFill>
                <a:latin typeface="Inter" pitchFamily="34" charset="0"/>
                <a:ea typeface="Inter" pitchFamily="34" charset="-122"/>
                <a:cs typeface="Inter" pitchFamily="34" charset="-120"/>
              </a:rPr>
              <a:t>Shared devices</a:t>
            </a:r>
            <a:endParaRPr lang="en-US" sz="1400" dirty="0"/>
          </a:p>
        </p:txBody>
      </p:sp>
      <p:pic>
        <p:nvPicPr>
          <p:cNvPr id="10" name="Image 1" descr="Users">    </p:cNvPr>
          <p:cNvPicPr>
            <a:picLocks noChangeAspect="1"/>
          </p:cNvPicPr>
          <p:nvPr/>
        </p:nvPicPr>
        <p:blipFill>
          <a:blip r:embed="rId2"/>
          <a:srcRect l="0" r="0" t="0" b="0"/>
          <a:stretch/>
        </p:blipFill>
        <p:spPr>
          <a:xfrm>
            <a:off x="812800" y="3545839"/>
            <a:ext cx="228600" cy="228600"/>
          </a:xfrm>
          <a:prstGeom prst="rect">
            <a:avLst/>
          </a:prstGeom>
        </p:spPr>
      </p:pic>
      <p:sp>
        <p:nvSpPr>
          <p:cNvPr id="11" name="Text 7"/>
          <p:cNvSpPr/>
          <p:nvPr/>
        </p:nvSpPr>
        <p:spPr>
          <a:xfrm>
            <a:off x="1143000" y="3535682"/>
            <a:ext cx="24946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CFBFB"/>
                </a:solidFill>
                <a:latin typeface="Inter" pitchFamily="34" charset="0"/>
                <a:ea typeface="Inter" pitchFamily="34" charset="-122"/>
                <a:cs typeface="Inter" pitchFamily="34" charset="-120"/>
              </a:rPr>
              <a:t>Multiple funding sources</a:t>
            </a:r>
            <a:endParaRPr lang="en-US" sz="1400" dirty="0"/>
          </a:p>
        </p:txBody>
      </p:sp>
      <p:pic>
        <p:nvPicPr>
          <p:cNvPr id="12" name="Image 2" descr="Lightning">    </p:cNvPr>
          <p:cNvPicPr>
            <a:picLocks noChangeAspect="1"/>
          </p:cNvPicPr>
          <p:nvPr/>
        </p:nvPicPr>
        <p:blipFill>
          <a:blip r:embed="rId3"/>
          <a:srcRect l="0" r="0" t="-590" b="-590"/>
          <a:stretch/>
        </p:blipFill>
        <p:spPr>
          <a:xfrm>
            <a:off x="812800" y="4020821"/>
            <a:ext cx="188277" cy="228600"/>
          </a:xfrm>
          <a:prstGeom prst="rect">
            <a:avLst/>
          </a:prstGeom>
        </p:spPr>
      </p:pic>
      <p:sp>
        <p:nvSpPr>
          <p:cNvPr id="13" name="Text 8"/>
          <p:cNvSpPr/>
          <p:nvPr/>
        </p:nvSpPr>
        <p:spPr>
          <a:xfrm>
            <a:off x="1102678" y="3886200"/>
            <a:ext cx="33641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CFBFB"/>
                </a:solidFill>
                <a:latin typeface="Inter" pitchFamily="34" charset="0"/>
                <a:ea typeface="Inter" pitchFamily="34" charset="-122"/>
                <a:cs typeface="Inter" pitchFamily="34" charset="-120"/>
              </a:rPr>
              <a:t>Rapid transfers to a small intermediary network</a:t>
            </a:r>
            <a:endParaRPr lang="en-US" sz="1400" dirty="0"/>
          </a:p>
        </p:txBody>
      </p:sp>
      <p:sp>
        <p:nvSpPr>
          <p:cNvPr id="14" name="Text 9"/>
          <p:cNvSpPr/>
          <p:nvPr/>
        </p:nvSpPr>
        <p:spPr>
          <a:xfrm>
            <a:off x="815975" y="4641214"/>
            <a:ext cx="3549650" cy="806450"/>
          </a:xfrm>
          <a:prstGeom prst="roundRect">
            <a:avLst>
              <a:gd name="adj" fmla="val 12205"/>
            </a:avLst>
          </a:prstGeom>
          <a:solidFill>
            <a:srgbClr val="7A0B0F"/>
          </a:solidFill>
          <a:ln w="6350">
            <a:solidFill>
              <a:srgbClr val="ED1B24"/>
            </a:solidFill>
            <a:prstDash val="solid"/>
          </a:ln>
        </p:spPr>
        <p:txBody>
          <a:bodyPr wrap="square" lIns="150877" tIns="125477" rIns="55170" bIns="100077" rtlCol="0" anchor="t">
            <a:normAutofit/>
          </a:bodyPr>
          <a:lstStyle/>
          <a:p>
            <a:pPr algn="l" indent="0" marL="0">
              <a:lnSpc>
                <a:spcPts val="1960"/>
              </a:lnSpc>
              <a:buNone/>
            </a:pPr>
            <a:r>
              <a:rPr lang="en-US" sz="1400" b="1" dirty="0">
                <a:solidFill>
                  <a:srgbClr val="FBD2D4"/>
                </a:solidFill>
                <a:latin typeface="Inter" pitchFamily="34" charset="0"/>
                <a:ea typeface="Inter" pitchFamily="34" charset="-122"/>
                <a:cs typeface="Inter" pitchFamily="34" charset="-120"/>
              </a:rPr>
              <a:t>One coordinated pattern, surfaced for investigation before it scales.</a:t>
            </a:r>
            <a:endParaRPr lang="en-US" sz="1400" dirty="0"/>
          </a:p>
        </p:txBody>
      </p:sp>
      <p:pic>
        <p:nvPicPr>
          <p:cNvPr id="15" name="Image 3" descr="Network diagram: four funding sources feed five newly opened accounts; two shared devices link the accounts; the accounts transfer rapidly to two intermediary accounts, all inside a highlighted pattern">    </p:cNvPr>
          <p:cNvPicPr>
            <a:picLocks noChangeAspect="1"/>
          </p:cNvPicPr>
          <p:nvPr/>
        </p:nvPicPr>
        <p:blipFill>
          <a:blip r:embed="rId4"/>
          <a:srcRect l="0" r="0" t="-4" b="-4"/>
          <a:stretch/>
        </p:blipFill>
        <p:spPr>
          <a:xfrm>
            <a:off x="4775200" y="2171700"/>
            <a:ext cx="6604000" cy="3492500"/>
          </a:xfrm>
          <a:prstGeom prst="rect">
            <a:avLst/>
          </a:prstGeom>
        </p:spPr>
      </p:pic>
      <p:sp>
        <p:nvSpPr>
          <p:cNvPr id="16" name="Text 10"/>
          <p:cNvSpPr/>
          <p:nvPr/>
        </p:nvSpPr>
        <p:spPr>
          <a:xfrm>
            <a:off x="4749800" y="18542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FABAB"/>
                </a:solidFill>
                <a:latin typeface="Inter" pitchFamily="34" charset="0"/>
                <a:ea typeface="Inter" pitchFamily="34" charset="-122"/>
                <a:cs typeface="Inter" pitchFamily="34" charset="-120"/>
              </a:rPr>
              <a:t>Funding sources</a:t>
            </a:r>
            <a:endParaRPr lang="en-US" sz="1200" dirty="0"/>
          </a:p>
        </p:txBody>
      </p:sp>
      <p:sp>
        <p:nvSpPr>
          <p:cNvPr id="17" name="Text 11"/>
          <p:cNvSpPr/>
          <p:nvPr/>
        </p:nvSpPr>
        <p:spPr>
          <a:xfrm>
            <a:off x="6647815" y="1854200"/>
            <a:ext cx="222377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FABAB"/>
                </a:solidFill>
                <a:latin typeface="Inter" pitchFamily="34" charset="0"/>
                <a:ea typeface="Inter" pitchFamily="34" charset="-122"/>
                <a:cs typeface="Inter" pitchFamily="34" charset="-120"/>
              </a:rPr>
              <a:t>Newly opened accounts</a:t>
            </a:r>
            <a:endParaRPr lang="en-US" sz="1200" dirty="0"/>
          </a:p>
        </p:txBody>
      </p:sp>
      <p:sp>
        <p:nvSpPr>
          <p:cNvPr id="18" name="Text 12"/>
          <p:cNvSpPr/>
          <p:nvPr/>
        </p:nvSpPr>
        <p:spPr>
          <a:xfrm>
            <a:off x="9316720" y="1854200"/>
            <a:ext cx="209296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FABAB"/>
                </a:solidFill>
                <a:latin typeface="Inter" pitchFamily="34" charset="0"/>
                <a:ea typeface="Inter" pitchFamily="34" charset="-122"/>
                <a:cs typeface="Inter" pitchFamily="34" charset="-120"/>
              </a:rPr>
              <a:t>Intermediary accounts</a:t>
            </a:r>
            <a:endParaRPr lang="en-US" sz="1200" dirty="0"/>
          </a:p>
        </p:txBody>
      </p:sp>
      <p:sp>
        <p:nvSpPr>
          <p:cNvPr id="19" name="Text 13"/>
          <p:cNvSpPr/>
          <p:nvPr/>
        </p:nvSpPr>
        <p:spPr>
          <a:xfrm>
            <a:off x="5334000" y="2190750"/>
            <a:ext cx="1193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7A5A8"/>
                </a:solidFill>
                <a:latin typeface="Inter" pitchFamily="34" charset="0"/>
                <a:ea typeface="Inter" pitchFamily="34" charset="-122"/>
                <a:cs typeface="Inter" pitchFamily="34" charset="-120"/>
              </a:rPr>
              <a:t>Shared device</a:t>
            </a:r>
            <a:endParaRPr lang="en-US" sz="1200" dirty="0"/>
          </a:p>
        </p:txBody>
      </p:sp>
      <p:sp>
        <p:nvSpPr>
          <p:cNvPr id="20" name="Text 14"/>
          <p:cNvSpPr/>
          <p:nvPr/>
        </p:nvSpPr>
        <p:spPr>
          <a:xfrm>
            <a:off x="5334000" y="5365750"/>
            <a:ext cx="1193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7A5A8"/>
                </a:solidFill>
                <a:latin typeface="Inter" pitchFamily="34" charset="0"/>
                <a:ea typeface="Inter" pitchFamily="34" charset="-122"/>
                <a:cs typeface="Inter" pitchFamily="34" charset="-120"/>
              </a:rPr>
              <a:t>Shared device</a:t>
            </a:r>
            <a:endParaRPr lang="en-US" sz="1200" dirty="0"/>
          </a:p>
        </p:txBody>
      </p:sp>
      <p:sp>
        <p:nvSpPr>
          <p:cNvPr id="21" name="Text 15"/>
          <p:cNvSpPr/>
          <p:nvPr/>
        </p:nvSpPr>
        <p:spPr>
          <a:xfrm>
            <a:off x="8159750" y="5448300"/>
            <a:ext cx="26162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3797D"/>
                </a:solidFill>
                <a:latin typeface="Inter" pitchFamily="34" charset="0"/>
                <a:ea typeface="Inter" pitchFamily="34" charset="-122"/>
                <a:cs typeface="Inter" pitchFamily="34" charset="-120"/>
              </a:rPr>
              <a:t>Pattern surfaced by ClaimIQ</a:t>
            </a:r>
            <a:endParaRPr lang="en-US" sz="1200" dirty="0"/>
          </a:p>
        </p:txBody>
      </p:sp>
      <p:sp>
        <p:nvSpPr>
          <p:cNvPr id="22" name="Text 16"/>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Illustrative scenario, not a real case.</a:t>
            </a:r>
            <a:endParaRPr lang="en-US" sz="1200" dirty="0"/>
          </a:p>
        </p:txBody>
      </p:sp>
      <p:sp>
        <p:nvSpPr>
          <p:cNvPr id="23" name="Text 1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FABAB"/>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D1B24"/>
          </a:solidFill>
          <a:ln/>
        </p:spPr>
      </p:sp>
      <p:sp>
        <p:nvSpPr>
          <p:cNvPr id="3" name="Text 1"/>
          <p:cNvSpPr/>
          <p:nvPr/>
        </p:nvSpPr>
        <p:spPr>
          <a:xfrm>
            <a:off x="1219200" y="812800"/>
            <a:ext cx="213331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EXPLAIN AND ACT</a:t>
            </a:r>
            <a:endParaRPr lang="en-US" sz="1200" dirty="0"/>
          </a:p>
        </p:txBody>
      </p:sp>
      <p:sp>
        <p:nvSpPr>
          <p:cNvPr id="4" name="Text 2"/>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Explained alerts, human decisions</a:t>
            </a:r>
            <a:endParaRPr lang="en-US" sz="3200" dirty="0"/>
          </a:p>
        </p:txBody>
      </p:sp>
      <p:sp>
        <p:nvSpPr>
          <p:cNvPr id="5" name="Shape 3"/>
          <p:cNvSpPr/>
          <p:nvPr/>
        </p:nvSpPr>
        <p:spPr>
          <a:xfrm>
            <a:off x="815975" y="1857375"/>
            <a:ext cx="3383677" cy="3855720"/>
          </a:xfrm>
          <a:prstGeom prst="roundRect">
            <a:avLst>
              <a:gd name="adj" fmla="val 2909"/>
            </a:avLst>
          </a:prstGeom>
          <a:solidFill>
            <a:srgbClr val="FFFFFF"/>
          </a:solidFill>
          <a:ln w="6350">
            <a:solidFill>
              <a:srgbClr val="D9D9D9"/>
            </a:solidFill>
            <a:prstDash val="solid"/>
          </a:ln>
        </p:spPr>
      </p:sp>
      <p:sp>
        <p:nvSpPr>
          <p:cNvPr id="6" name="Text 4"/>
          <p:cNvSpPr/>
          <p:nvPr/>
        </p:nvSpPr>
        <p:spPr>
          <a:xfrm>
            <a:off x="1071880" y="2113282"/>
            <a:ext cx="295802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D1B24"/>
                </a:solidFill>
                <a:latin typeface="Inter" pitchFamily="34" charset="0"/>
                <a:ea typeface="Inter" pitchFamily="34" charset="-122"/>
                <a:cs typeface="Inter" pitchFamily="34" charset="-120"/>
              </a:rPr>
              <a:t>04 · EXPLAIN</a:t>
            </a:r>
            <a:endParaRPr lang="en-US" sz="1200" dirty="0"/>
          </a:p>
        </p:txBody>
      </p:sp>
      <p:pic>
        <p:nvPicPr>
          <p:cNvPr id="7" name="Image 0" descr="Chat">    </p:cNvPr>
          <p:cNvPicPr>
            <a:picLocks noChangeAspect="1"/>
          </p:cNvPicPr>
          <p:nvPr/>
        </p:nvPicPr>
        <p:blipFill>
          <a:blip r:embed="rId1"/>
          <a:srcRect l="0" r="0" t="0" b="0"/>
          <a:stretch/>
        </p:blipFill>
        <p:spPr>
          <a:xfrm>
            <a:off x="1071880" y="2479039"/>
            <a:ext cx="254000" cy="254000"/>
          </a:xfrm>
          <a:prstGeom prst="rect">
            <a:avLst/>
          </a:prstGeom>
        </p:spPr>
      </p:pic>
      <p:sp>
        <p:nvSpPr>
          <p:cNvPr id="8" name="Text 5"/>
          <p:cNvSpPr/>
          <p:nvPr/>
        </p:nvSpPr>
        <p:spPr>
          <a:xfrm>
            <a:off x="1427480" y="2453639"/>
            <a:ext cx="22079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Agent explains</a:t>
            </a:r>
            <a:endParaRPr lang="en-US" sz="2000" dirty="0"/>
          </a:p>
        </p:txBody>
      </p:sp>
      <p:pic>
        <p:nvPicPr>
          <p:cNvPr id="9" name="Image 1" descr="line">    </p:cNvPr>
          <p:cNvPicPr>
            <a:picLocks noChangeAspect="1"/>
          </p:cNvPicPr>
          <p:nvPr/>
        </p:nvPicPr>
        <p:blipFill>
          <a:blip r:embed="rId2"/>
          <a:srcRect l="-31" r="-31" t="0" b="0"/>
          <a:stretch/>
        </p:blipFill>
        <p:spPr>
          <a:xfrm>
            <a:off x="1071880" y="2885439"/>
            <a:ext cx="2871867" cy="6350"/>
          </a:xfrm>
          <a:prstGeom prst="rect">
            <a:avLst/>
          </a:prstGeom>
        </p:spPr>
      </p:pic>
      <p:sp>
        <p:nvSpPr>
          <p:cNvPr id="10" name="Shape 6"/>
          <p:cNvSpPr/>
          <p:nvPr/>
        </p:nvSpPr>
        <p:spPr>
          <a:xfrm>
            <a:off x="1071880" y="3101339"/>
            <a:ext cx="50800" cy="50800"/>
          </a:xfrm>
          <a:prstGeom prst="rect">
            <a:avLst/>
          </a:prstGeom>
          <a:solidFill>
            <a:srgbClr val="ED1B24"/>
          </a:solidFill>
          <a:ln/>
        </p:spPr>
      </p:sp>
      <p:sp>
        <p:nvSpPr>
          <p:cNvPr id="11" name="Text 7"/>
          <p:cNvSpPr/>
          <p:nvPr/>
        </p:nvSpPr>
        <p:spPr>
          <a:xfrm>
            <a:off x="1224280" y="3018789"/>
            <a:ext cx="28010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What is unusual, and which baseline was breached</a:t>
            </a:r>
            <a:endParaRPr lang="en-US" sz="1200" dirty="0"/>
          </a:p>
        </p:txBody>
      </p:sp>
      <p:sp>
        <p:nvSpPr>
          <p:cNvPr id="12" name="Shape 8"/>
          <p:cNvSpPr/>
          <p:nvPr/>
        </p:nvSpPr>
        <p:spPr>
          <a:xfrm>
            <a:off x="1071880" y="3604261"/>
            <a:ext cx="50800" cy="50800"/>
          </a:xfrm>
          <a:prstGeom prst="rect">
            <a:avLst/>
          </a:prstGeom>
          <a:solidFill>
            <a:srgbClr val="ED1B24"/>
          </a:solidFill>
          <a:ln/>
        </p:spPr>
      </p:sp>
      <p:sp>
        <p:nvSpPr>
          <p:cNvPr id="13" name="Text 9"/>
          <p:cNvSpPr/>
          <p:nvPr/>
        </p:nvSpPr>
        <p:spPr>
          <a:xfrm>
            <a:off x="1224280" y="3521711"/>
            <a:ext cx="28010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Customers, accounts, transactions and links involved</a:t>
            </a:r>
            <a:endParaRPr lang="en-US" sz="1200" dirty="0"/>
          </a:p>
        </p:txBody>
      </p:sp>
      <p:sp>
        <p:nvSpPr>
          <p:cNvPr id="14" name="Shape 10"/>
          <p:cNvSpPr/>
          <p:nvPr/>
        </p:nvSpPr>
        <p:spPr>
          <a:xfrm>
            <a:off x="1071880" y="4107179"/>
            <a:ext cx="50800" cy="50800"/>
          </a:xfrm>
          <a:prstGeom prst="rect">
            <a:avLst/>
          </a:prstGeom>
          <a:solidFill>
            <a:srgbClr val="ED1B24"/>
          </a:solidFill>
          <a:ln/>
        </p:spPr>
      </p:sp>
      <p:sp>
        <p:nvSpPr>
          <p:cNvPr id="15" name="Text 11"/>
          <p:cNvSpPr/>
          <p:nvPr/>
        </p:nvSpPr>
        <p:spPr>
          <a:xfrm>
            <a:off x="1224280" y="4024629"/>
            <a:ext cx="28010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When the signal began and how it is evolving</a:t>
            </a:r>
            <a:endParaRPr lang="en-US" sz="1200" dirty="0"/>
          </a:p>
        </p:txBody>
      </p:sp>
      <p:sp>
        <p:nvSpPr>
          <p:cNvPr id="16" name="Shape 12"/>
          <p:cNvSpPr/>
          <p:nvPr/>
        </p:nvSpPr>
        <p:spPr>
          <a:xfrm>
            <a:off x="1071880" y="4610100"/>
            <a:ext cx="50800" cy="50800"/>
          </a:xfrm>
          <a:prstGeom prst="rect">
            <a:avLst/>
          </a:prstGeom>
          <a:solidFill>
            <a:srgbClr val="ED1B24"/>
          </a:solidFill>
          <a:ln/>
        </p:spPr>
      </p:sp>
      <p:sp>
        <p:nvSpPr>
          <p:cNvPr id="17" name="Text 13"/>
          <p:cNvSpPr/>
          <p:nvPr/>
        </p:nvSpPr>
        <p:spPr>
          <a:xfrm>
            <a:off x="1224280" y="4527550"/>
            <a:ext cx="28010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Severity, exposure, and which rule or model missed it</a:t>
            </a:r>
            <a:endParaRPr lang="en-US" sz="1200" dirty="0"/>
          </a:p>
        </p:txBody>
      </p:sp>
      <p:sp>
        <p:nvSpPr>
          <p:cNvPr id="18" name="Shape 14"/>
          <p:cNvSpPr/>
          <p:nvPr/>
        </p:nvSpPr>
        <p:spPr>
          <a:xfrm>
            <a:off x="1071880" y="5113021"/>
            <a:ext cx="50800" cy="50800"/>
          </a:xfrm>
          <a:prstGeom prst="rect">
            <a:avLst/>
          </a:prstGeom>
          <a:solidFill>
            <a:srgbClr val="ED1B24"/>
          </a:solidFill>
          <a:ln/>
        </p:spPr>
      </p:sp>
      <p:sp>
        <p:nvSpPr>
          <p:cNvPr id="19" name="Text 15"/>
          <p:cNvSpPr/>
          <p:nvPr/>
        </p:nvSpPr>
        <p:spPr>
          <a:xfrm>
            <a:off x="1224280" y="5030471"/>
            <a:ext cx="28010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Supporting evidence and recommended next steps</a:t>
            </a:r>
            <a:endParaRPr lang="en-US" sz="1200" dirty="0"/>
          </a:p>
        </p:txBody>
      </p:sp>
      <p:sp>
        <p:nvSpPr>
          <p:cNvPr id="20" name="Shape 16"/>
          <p:cNvSpPr/>
          <p:nvPr/>
        </p:nvSpPr>
        <p:spPr>
          <a:xfrm>
            <a:off x="4409202" y="1857375"/>
            <a:ext cx="3383756" cy="3855720"/>
          </a:xfrm>
          <a:prstGeom prst="roundRect">
            <a:avLst>
              <a:gd name="adj" fmla="val 2909"/>
            </a:avLst>
          </a:prstGeom>
          <a:solidFill>
            <a:srgbClr val="FFFFFF"/>
          </a:solidFill>
          <a:ln w="6350">
            <a:solidFill>
              <a:srgbClr val="D9D9D9"/>
            </a:solidFill>
            <a:prstDash val="solid"/>
          </a:ln>
        </p:spPr>
      </p:sp>
      <p:sp>
        <p:nvSpPr>
          <p:cNvPr id="21" name="Text 17"/>
          <p:cNvSpPr/>
          <p:nvPr/>
        </p:nvSpPr>
        <p:spPr>
          <a:xfrm>
            <a:off x="4665107" y="2113282"/>
            <a:ext cx="295810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D1B24"/>
                </a:solidFill>
                <a:latin typeface="Inter" pitchFamily="34" charset="0"/>
                <a:ea typeface="Inter" pitchFamily="34" charset="-122"/>
                <a:cs typeface="Inter" pitchFamily="34" charset="-120"/>
              </a:rPr>
              <a:t>05 · ACT</a:t>
            </a:r>
            <a:endParaRPr lang="en-US" sz="1200" dirty="0"/>
          </a:p>
        </p:txBody>
      </p:sp>
      <p:pic>
        <p:nvPicPr>
          <p:cNvPr id="22" name="Image 2" descr="Lightning">    </p:cNvPr>
          <p:cNvPicPr>
            <a:picLocks noChangeAspect="1"/>
          </p:cNvPicPr>
          <p:nvPr/>
        </p:nvPicPr>
        <p:blipFill>
          <a:blip r:embed="rId3"/>
          <a:srcRect l="0" r="0" t="0" b="0"/>
          <a:stretch/>
        </p:blipFill>
        <p:spPr>
          <a:xfrm>
            <a:off x="4665107" y="2479039"/>
            <a:ext cx="254000" cy="254000"/>
          </a:xfrm>
          <a:prstGeom prst="rect">
            <a:avLst/>
          </a:prstGeom>
        </p:spPr>
      </p:pic>
      <p:sp>
        <p:nvSpPr>
          <p:cNvPr id="23" name="Text 18"/>
          <p:cNvSpPr/>
          <p:nvPr/>
        </p:nvSpPr>
        <p:spPr>
          <a:xfrm>
            <a:off x="5020707" y="2453639"/>
            <a:ext cx="17449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Early action</a:t>
            </a:r>
            <a:endParaRPr lang="en-US" sz="2000" dirty="0"/>
          </a:p>
        </p:txBody>
      </p:sp>
      <p:pic>
        <p:nvPicPr>
          <p:cNvPr id="24" name="Image 3" descr="line">    </p:cNvPr>
          <p:cNvPicPr>
            <a:picLocks noChangeAspect="1"/>
          </p:cNvPicPr>
          <p:nvPr/>
        </p:nvPicPr>
        <p:blipFill>
          <a:blip r:embed="rId4"/>
          <a:srcRect l="-31" r="-31" t="0" b="0"/>
          <a:stretch/>
        </p:blipFill>
        <p:spPr>
          <a:xfrm>
            <a:off x="4665107" y="2885439"/>
            <a:ext cx="2871946" cy="6350"/>
          </a:xfrm>
          <a:prstGeom prst="rect">
            <a:avLst/>
          </a:prstGeom>
        </p:spPr>
      </p:pic>
      <p:sp>
        <p:nvSpPr>
          <p:cNvPr id="25" name="Shape 19"/>
          <p:cNvSpPr/>
          <p:nvPr/>
        </p:nvSpPr>
        <p:spPr>
          <a:xfrm>
            <a:off x="4665107" y="3101339"/>
            <a:ext cx="50800" cy="50800"/>
          </a:xfrm>
          <a:prstGeom prst="rect">
            <a:avLst/>
          </a:prstGeom>
          <a:solidFill>
            <a:srgbClr val="ED1B24"/>
          </a:solidFill>
          <a:ln/>
        </p:spPr>
      </p:sp>
      <p:sp>
        <p:nvSpPr>
          <p:cNvPr id="26" name="Text 20"/>
          <p:cNvSpPr/>
          <p:nvPr/>
        </p:nvSpPr>
        <p:spPr>
          <a:xfrm>
            <a:off x="4817507" y="3018789"/>
            <a:ext cx="28011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Early warning to the relevant Fraud or Risk Analyst</a:t>
            </a:r>
            <a:endParaRPr lang="en-US" sz="1200" dirty="0"/>
          </a:p>
        </p:txBody>
      </p:sp>
      <p:sp>
        <p:nvSpPr>
          <p:cNvPr id="27" name="Shape 21"/>
          <p:cNvSpPr/>
          <p:nvPr/>
        </p:nvSpPr>
        <p:spPr>
          <a:xfrm>
            <a:off x="4665107" y="3604261"/>
            <a:ext cx="50800" cy="50800"/>
          </a:xfrm>
          <a:prstGeom prst="rect">
            <a:avLst/>
          </a:prstGeom>
          <a:solidFill>
            <a:srgbClr val="ED1B24"/>
          </a:solidFill>
          <a:ln/>
        </p:spPr>
      </p:sp>
      <p:sp>
        <p:nvSpPr>
          <p:cNvPr id="28" name="Text 22"/>
          <p:cNvSpPr/>
          <p:nvPr/>
        </p:nvSpPr>
        <p:spPr>
          <a:xfrm>
            <a:off x="4817507" y="3521711"/>
            <a:ext cx="28011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Creates or enriches a case in existing case management</a:t>
            </a:r>
            <a:endParaRPr lang="en-US" sz="1200" dirty="0"/>
          </a:p>
        </p:txBody>
      </p:sp>
      <p:sp>
        <p:nvSpPr>
          <p:cNvPr id="29" name="Shape 23"/>
          <p:cNvSpPr/>
          <p:nvPr/>
        </p:nvSpPr>
        <p:spPr>
          <a:xfrm>
            <a:off x="4665107" y="4107179"/>
            <a:ext cx="50800" cy="50800"/>
          </a:xfrm>
          <a:prstGeom prst="rect">
            <a:avLst/>
          </a:prstGeom>
          <a:solidFill>
            <a:srgbClr val="ED1B24"/>
          </a:solidFill>
          <a:ln/>
        </p:spPr>
      </p:sp>
      <p:sp>
        <p:nvSpPr>
          <p:cNvPr id="30" name="Text 24"/>
          <p:cNvSpPr/>
          <p:nvPr/>
        </p:nvSpPr>
        <p:spPr>
          <a:xfrm>
            <a:off x="4817507" y="4024629"/>
            <a:ext cx="28011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Prioritised by confidence, estimated loss and network reach</a:t>
            </a:r>
            <a:endParaRPr lang="en-US" sz="1200" dirty="0"/>
          </a:p>
        </p:txBody>
      </p:sp>
      <p:sp>
        <p:nvSpPr>
          <p:cNvPr id="31" name="Shape 25"/>
          <p:cNvSpPr/>
          <p:nvPr/>
        </p:nvSpPr>
        <p:spPr>
          <a:xfrm>
            <a:off x="4665107" y="4610100"/>
            <a:ext cx="50800" cy="50800"/>
          </a:xfrm>
          <a:prstGeom prst="rect">
            <a:avLst/>
          </a:prstGeom>
          <a:solidFill>
            <a:srgbClr val="ED1B24"/>
          </a:solidFill>
          <a:ln/>
        </p:spPr>
      </p:sp>
      <p:sp>
        <p:nvSpPr>
          <p:cNvPr id="32" name="Text 26"/>
          <p:cNvSpPr/>
          <p:nvPr/>
        </p:nvSpPr>
        <p:spPr>
          <a:xfrm>
            <a:off x="4817507" y="4527550"/>
            <a:ext cx="28011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Recommends rules, features or enhanced surveillance</a:t>
            </a:r>
            <a:endParaRPr lang="en-US" sz="1200" dirty="0"/>
          </a:p>
        </p:txBody>
      </p:sp>
      <p:sp>
        <p:nvSpPr>
          <p:cNvPr id="33" name="Shape 27"/>
          <p:cNvSpPr/>
          <p:nvPr/>
        </p:nvSpPr>
        <p:spPr>
          <a:xfrm>
            <a:off x="4665107" y="5113021"/>
            <a:ext cx="50800" cy="50800"/>
          </a:xfrm>
          <a:prstGeom prst="rect">
            <a:avLst/>
          </a:prstGeom>
          <a:solidFill>
            <a:srgbClr val="ED1B24"/>
          </a:solidFill>
          <a:ln/>
        </p:spPr>
      </p:sp>
      <p:sp>
        <p:nvSpPr>
          <p:cNvPr id="34" name="Text 28"/>
          <p:cNvSpPr/>
          <p:nvPr/>
        </p:nvSpPr>
        <p:spPr>
          <a:xfrm>
            <a:off x="4817507" y="5030471"/>
            <a:ext cx="28011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Captures analyst decisions for the next learning cycle</a:t>
            </a:r>
            <a:endParaRPr lang="en-US" sz="1200" dirty="0"/>
          </a:p>
        </p:txBody>
      </p:sp>
      <p:sp>
        <p:nvSpPr>
          <p:cNvPr id="35" name="Shape 29"/>
          <p:cNvSpPr/>
          <p:nvPr/>
        </p:nvSpPr>
        <p:spPr>
          <a:xfrm>
            <a:off x="7999333" y="1854200"/>
            <a:ext cx="3379867" cy="3862070"/>
          </a:xfrm>
          <a:prstGeom prst="roundRect">
            <a:avLst>
              <a:gd name="adj" fmla="val 3006"/>
            </a:avLst>
          </a:prstGeom>
          <a:solidFill>
            <a:srgbClr val="000000"/>
          </a:solidFill>
          <a:ln/>
        </p:spPr>
      </p:sp>
      <p:sp>
        <p:nvSpPr>
          <p:cNvPr id="36" name="Text 30"/>
          <p:cNvSpPr/>
          <p:nvPr/>
        </p:nvSpPr>
        <p:spPr>
          <a:xfrm>
            <a:off x="8253333" y="2108200"/>
            <a:ext cx="295802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797D"/>
                </a:solidFill>
                <a:latin typeface="Inter" pitchFamily="34" charset="0"/>
                <a:ea typeface="Inter" pitchFamily="34" charset="-122"/>
                <a:cs typeface="Inter" pitchFamily="34" charset="-120"/>
              </a:rPr>
              <a:t>CONTROL PRINCIPLE</a:t>
            </a:r>
            <a:endParaRPr lang="en-US" sz="1200" dirty="0"/>
          </a:p>
        </p:txBody>
      </p:sp>
      <p:pic>
        <p:nvPicPr>
          <p:cNvPr id="37" name="Image 4" descr="Trust">    </p:cNvPr>
          <p:cNvPicPr>
            <a:picLocks noChangeAspect="1"/>
          </p:cNvPicPr>
          <p:nvPr/>
        </p:nvPicPr>
        <p:blipFill>
          <a:blip r:embed="rId5"/>
          <a:srcRect l="0" r="0" t="0" b="0"/>
          <a:stretch/>
        </p:blipFill>
        <p:spPr>
          <a:xfrm>
            <a:off x="8253333" y="2473961"/>
            <a:ext cx="254000" cy="254000"/>
          </a:xfrm>
          <a:prstGeom prst="rect">
            <a:avLst/>
          </a:prstGeom>
        </p:spPr>
      </p:pic>
      <p:sp>
        <p:nvSpPr>
          <p:cNvPr id="38" name="Text 31"/>
          <p:cNvSpPr/>
          <p:nvPr/>
        </p:nvSpPr>
        <p:spPr>
          <a:xfrm>
            <a:off x="8608933" y="2448561"/>
            <a:ext cx="23092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CFBFB"/>
                </a:solidFill>
                <a:latin typeface="Plus Jakarta Sans" pitchFamily="34" charset="0"/>
                <a:ea typeface="Plus Jakarta Sans" pitchFamily="34" charset="-122"/>
                <a:cs typeface="Plus Jakarta Sans" pitchFamily="34" charset="-120"/>
              </a:rPr>
              <a:t>Humans decide</a:t>
            </a:r>
            <a:endParaRPr lang="en-US" sz="2000" dirty="0"/>
          </a:p>
        </p:txBody>
      </p:sp>
      <p:pic>
        <p:nvPicPr>
          <p:cNvPr id="39" name="Image 5" descr="line">    </p:cNvPr>
          <p:cNvPicPr>
            <a:picLocks noChangeAspect="1"/>
          </p:cNvPicPr>
          <p:nvPr/>
        </p:nvPicPr>
        <p:blipFill>
          <a:blip r:embed="rId6"/>
          <a:srcRect l="-31" r="-31" t="0" b="0"/>
          <a:stretch/>
        </p:blipFill>
        <p:spPr>
          <a:xfrm>
            <a:off x="8253333" y="2880361"/>
            <a:ext cx="2871867" cy="6350"/>
          </a:xfrm>
          <a:prstGeom prst="rect">
            <a:avLst/>
          </a:prstGeom>
        </p:spPr>
      </p:pic>
      <p:sp>
        <p:nvSpPr>
          <p:cNvPr id="40" name="Text 32"/>
          <p:cNvSpPr/>
          <p:nvPr/>
        </p:nvSpPr>
        <p:spPr>
          <a:xfrm>
            <a:off x="8253333" y="3013711"/>
            <a:ext cx="295802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BFB"/>
                </a:solidFill>
                <a:latin typeface="Inter" pitchFamily="34" charset="0"/>
                <a:ea typeface="Inter" pitchFamily="34" charset="-122"/>
                <a:cs typeface="Inter" pitchFamily="34" charset="-120"/>
              </a:rPr>
              <a:t>Final decisions remain with authorised Risk specialists.</a:t>
            </a:r>
            <a:endParaRPr lang="en-US" sz="1400" dirty="0"/>
          </a:p>
        </p:txBody>
      </p:sp>
      <p:sp>
        <p:nvSpPr>
          <p:cNvPr id="41" name="Text 33"/>
          <p:cNvSpPr/>
          <p:nvPr/>
        </p:nvSpPr>
        <p:spPr>
          <a:xfrm>
            <a:off x="8253333" y="3638550"/>
            <a:ext cx="295802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The AI supports discovery, prioritisation and investigation. It does not independently conclude fraud or make adverse customer decisions.</a:t>
            </a:r>
            <a:endParaRPr lang="en-US" sz="1200" dirty="0"/>
          </a:p>
        </p:txBody>
      </p:sp>
      <p:sp>
        <p:nvSpPr>
          <p:cNvPr id="42" name="Text 34"/>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ClaimIQ · Emerging Risk and Fraud Discovery</a:t>
            </a:r>
            <a:endParaRPr lang="en-US" sz="1200" dirty="0"/>
          </a:p>
        </p:txBody>
      </p:sp>
      <p:sp>
        <p:nvSpPr>
          <p:cNvPr id="43" name="Text 3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D1B24"/>
          </a:solidFill>
          <a:ln/>
        </p:spPr>
      </p:sp>
      <p:sp>
        <p:nvSpPr>
          <p:cNvPr id="3" name="Text 1"/>
          <p:cNvSpPr/>
          <p:nvPr/>
        </p:nvSpPr>
        <p:spPr>
          <a:xfrm>
            <a:off x="1219200" y="812800"/>
            <a:ext cx="1829753"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WHAT IT TAKES</a:t>
            </a:r>
            <a:endParaRPr lang="en-US" sz="1200" dirty="0"/>
          </a:p>
        </p:txBody>
      </p:sp>
      <p:sp>
        <p:nvSpPr>
          <p:cNvPr id="4" name="Text 2"/>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Data, platform and people</a:t>
            </a:r>
            <a:endParaRPr lang="en-US" sz="3200" dirty="0"/>
          </a:p>
        </p:txBody>
      </p:sp>
      <p:sp>
        <p:nvSpPr>
          <p:cNvPr id="5" name="Shape 3"/>
          <p:cNvSpPr/>
          <p:nvPr/>
        </p:nvSpPr>
        <p:spPr>
          <a:xfrm>
            <a:off x="815975" y="1806575"/>
            <a:ext cx="3380264" cy="3012440"/>
          </a:xfrm>
          <a:prstGeom prst="roundRect">
            <a:avLst>
              <a:gd name="adj" fmla="val 3267"/>
            </a:avLst>
          </a:prstGeom>
          <a:solidFill>
            <a:srgbClr val="FFFFFF"/>
          </a:solidFill>
          <a:ln w="6350">
            <a:solidFill>
              <a:srgbClr val="D9D9D9"/>
            </a:solidFill>
            <a:prstDash val="solid"/>
          </a:ln>
        </p:spPr>
      </p:sp>
      <p:sp>
        <p:nvSpPr>
          <p:cNvPr id="6" name="Shape 4"/>
          <p:cNvSpPr/>
          <p:nvPr/>
        </p:nvSpPr>
        <p:spPr>
          <a:xfrm>
            <a:off x="1071880" y="2062479"/>
            <a:ext cx="355600" cy="355600"/>
          </a:xfrm>
          <a:prstGeom prst="roundRect">
            <a:avLst>
              <a:gd name="adj" fmla="val 25000"/>
            </a:avLst>
          </a:prstGeom>
          <a:solidFill>
            <a:srgbClr val="FBD2D4"/>
          </a:solidFill>
          <a:ln/>
        </p:spPr>
      </p:sp>
      <p:pic>
        <p:nvPicPr>
          <p:cNvPr id="7" name="Image 0" descr="Database">    </p:cNvPr>
          <p:cNvPicPr>
            <a:picLocks noChangeAspect="1"/>
          </p:cNvPicPr>
          <p:nvPr/>
        </p:nvPicPr>
        <p:blipFill>
          <a:blip r:embed="rId1"/>
          <a:srcRect l="0" r="0" t="0" b="0"/>
          <a:stretch/>
        </p:blipFill>
        <p:spPr>
          <a:xfrm>
            <a:off x="1148080" y="2138679"/>
            <a:ext cx="203200" cy="203200"/>
          </a:xfrm>
          <a:prstGeom prst="rect">
            <a:avLst/>
          </a:prstGeom>
        </p:spPr>
      </p:pic>
      <p:sp>
        <p:nvSpPr>
          <p:cNvPr id="8" name="Text 5"/>
          <p:cNvSpPr/>
          <p:nvPr/>
        </p:nvSpPr>
        <p:spPr>
          <a:xfrm>
            <a:off x="1529080" y="2087879"/>
            <a:ext cx="705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Data</a:t>
            </a:r>
            <a:endParaRPr lang="en-US" sz="2000" dirty="0"/>
          </a:p>
        </p:txBody>
      </p:sp>
      <p:pic>
        <p:nvPicPr>
          <p:cNvPr id="9" name="Image 1" descr="line">    </p:cNvPr>
          <p:cNvPicPr>
            <a:picLocks noChangeAspect="1"/>
          </p:cNvPicPr>
          <p:nvPr/>
        </p:nvPicPr>
        <p:blipFill>
          <a:blip r:embed="rId2"/>
          <a:srcRect l="0" r="0" t="-32" b="-32"/>
          <a:stretch/>
        </p:blipFill>
        <p:spPr>
          <a:xfrm>
            <a:off x="1071880" y="2545079"/>
            <a:ext cx="2868454" cy="6350"/>
          </a:xfrm>
          <a:prstGeom prst="rect">
            <a:avLst/>
          </a:prstGeom>
        </p:spPr>
      </p:pic>
      <p:sp>
        <p:nvSpPr>
          <p:cNvPr id="10" name="Shape 6"/>
          <p:cNvSpPr/>
          <p:nvPr/>
        </p:nvSpPr>
        <p:spPr>
          <a:xfrm>
            <a:off x="1071880" y="2759714"/>
            <a:ext cx="50800" cy="50800"/>
          </a:xfrm>
          <a:prstGeom prst="rect">
            <a:avLst/>
          </a:prstGeom>
          <a:solidFill>
            <a:srgbClr val="ED1B24"/>
          </a:solidFill>
          <a:ln/>
        </p:spPr>
      </p:sp>
      <p:sp>
        <p:nvSpPr>
          <p:cNvPr id="11" name="Text 7"/>
          <p:cNvSpPr/>
          <p:nvPr/>
        </p:nvSpPr>
        <p:spPr>
          <a:xfrm>
            <a:off x="1211580" y="2678429"/>
            <a:ext cx="23838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Near-real-time transactions</a:t>
            </a:r>
            <a:endParaRPr lang="en-US" sz="1200" dirty="0"/>
          </a:p>
        </p:txBody>
      </p:sp>
      <p:sp>
        <p:nvSpPr>
          <p:cNvPr id="12" name="Shape 8"/>
          <p:cNvSpPr/>
          <p:nvPr/>
        </p:nvSpPr>
        <p:spPr>
          <a:xfrm>
            <a:off x="1071880" y="2998471"/>
            <a:ext cx="50800" cy="50800"/>
          </a:xfrm>
          <a:prstGeom prst="rect">
            <a:avLst/>
          </a:prstGeom>
          <a:solidFill>
            <a:srgbClr val="ED1B24"/>
          </a:solidFill>
          <a:ln/>
        </p:spPr>
      </p:sp>
      <p:sp>
        <p:nvSpPr>
          <p:cNvPr id="13" name="Text 9"/>
          <p:cNvSpPr/>
          <p:nvPr/>
        </p:nvSpPr>
        <p:spPr>
          <a:xfrm>
            <a:off x="1211580" y="2917192"/>
            <a:ext cx="25219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Customer profile, KYC, rating</a:t>
            </a:r>
            <a:endParaRPr lang="en-US" sz="1200" dirty="0"/>
          </a:p>
        </p:txBody>
      </p:sp>
      <p:sp>
        <p:nvSpPr>
          <p:cNvPr id="14" name="Shape 10"/>
          <p:cNvSpPr/>
          <p:nvPr/>
        </p:nvSpPr>
        <p:spPr>
          <a:xfrm>
            <a:off x="1071880" y="3237229"/>
            <a:ext cx="50800" cy="50800"/>
          </a:xfrm>
          <a:prstGeom prst="rect">
            <a:avLst/>
          </a:prstGeom>
          <a:solidFill>
            <a:srgbClr val="ED1B24"/>
          </a:solidFill>
          <a:ln/>
        </p:spPr>
      </p:sp>
      <p:sp>
        <p:nvSpPr>
          <p:cNvPr id="15" name="Text 11"/>
          <p:cNvSpPr/>
          <p:nvPr/>
        </p:nvSpPr>
        <p:spPr>
          <a:xfrm>
            <a:off x="1211580" y="3155950"/>
            <a:ext cx="2569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Accounts, products, channels</a:t>
            </a:r>
            <a:endParaRPr lang="en-US" sz="1200" dirty="0"/>
          </a:p>
        </p:txBody>
      </p:sp>
      <p:sp>
        <p:nvSpPr>
          <p:cNvPr id="16" name="Shape 12"/>
          <p:cNvSpPr/>
          <p:nvPr/>
        </p:nvSpPr>
        <p:spPr>
          <a:xfrm>
            <a:off x="1071880" y="3475992"/>
            <a:ext cx="50800" cy="50800"/>
          </a:xfrm>
          <a:prstGeom prst="rect">
            <a:avLst/>
          </a:prstGeom>
          <a:solidFill>
            <a:srgbClr val="ED1B24"/>
          </a:solidFill>
          <a:ln/>
        </p:spPr>
      </p:sp>
      <p:sp>
        <p:nvSpPr>
          <p:cNvPr id="17" name="Text 13"/>
          <p:cNvSpPr/>
          <p:nvPr/>
        </p:nvSpPr>
        <p:spPr>
          <a:xfrm>
            <a:off x="1211580" y="3394714"/>
            <a:ext cx="24941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Counterparties, relationships</a:t>
            </a:r>
            <a:endParaRPr lang="en-US" sz="1200" dirty="0"/>
          </a:p>
        </p:txBody>
      </p:sp>
      <p:sp>
        <p:nvSpPr>
          <p:cNvPr id="18" name="Shape 14"/>
          <p:cNvSpPr/>
          <p:nvPr/>
        </p:nvSpPr>
        <p:spPr>
          <a:xfrm>
            <a:off x="1071880" y="3714750"/>
            <a:ext cx="50800" cy="50800"/>
          </a:xfrm>
          <a:prstGeom prst="rect">
            <a:avLst/>
          </a:prstGeom>
          <a:solidFill>
            <a:srgbClr val="ED1B24"/>
          </a:solidFill>
          <a:ln/>
        </p:spPr>
      </p:sp>
      <p:sp>
        <p:nvSpPr>
          <p:cNvPr id="19" name="Text 15"/>
          <p:cNvSpPr/>
          <p:nvPr/>
        </p:nvSpPr>
        <p:spPr>
          <a:xfrm>
            <a:off x="1211580" y="3633471"/>
            <a:ext cx="22743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Device, IP, session signals</a:t>
            </a:r>
            <a:endParaRPr lang="en-US" sz="1200" dirty="0"/>
          </a:p>
        </p:txBody>
      </p:sp>
      <p:sp>
        <p:nvSpPr>
          <p:cNvPr id="20" name="Shape 16"/>
          <p:cNvSpPr/>
          <p:nvPr/>
        </p:nvSpPr>
        <p:spPr>
          <a:xfrm>
            <a:off x="1071880" y="3953514"/>
            <a:ext cx="50800" cy="50800"/>
          </a:xfrm>
          <a:prstGeom prst="rect">
            <a:avLst/>
          </a:prstGeom>
          <a:solidFill>
            <a:srgbClr val="ED1B24"/>
          </a:solidFill>
          <a:ln/>
        </p:spPr>
      </p:sp>
      <p:sp>
        <p:nvSpPr>
          <p:cNvPr id="21" name="Text 17"/>
          <p:cNvSpPr/>
          <p:nvPr/>
        </p:nvSpPr>
        <p:spPr>
          <a:xfrm>
            <a:off x="1211580" y="3872229"/>
            <a:ext cx="23950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Alerts, cases and outcomes</a:t>
            </a:r>
            <a:endParaRPr lang="en-US" sz="1200" dirty="0"/>
          </a:p>
        </p:txBody>
      </p:sp>
      <p:sp>
        <p:nvSpPr>
          <p:cNvPr id="22" name="Shape 18"/>
          <p:cNvSpPr/>
          <p:nvPr/>
        </p:nvSpPr>
        <p:spPr>
          <a:xfrm>
            <a:off x="1071880" y="4192271"/>
            <a:ext cx="50800" cy="50800"/>
          </a:xfrm>
          <a:prstGeom prst="rect">
            <a:avLst/>
          </a:prstGeom>
          <a:solidFill>
            <a:srgbClr val="ED1B24"/>
          </a:solidFill>
          <a:ln/>
        </p:spPr>
      </p:sp>
      <p:sp>
        <p:nvSpPr>
          <p:cNvPr id="23" name="Text 19"/>
          <p:cNvSpPr/>
          <p:nvPr/>
        </p:nvSpPr>
        <p:spPr>
          <a:xfrm>
            <a:off x="1211580" y="4110992"/>
            <a:ext cx="21574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Fraud labels, trusted lists</a:t>
            </a:r>
            <a:endParaRPr lang="en-US" sz="1200" dirty="0"/>
          </a:p>
        </p:txBody>
      </p:sp>
      <p:sp>
        <p:nvSpPr>
          <p:cNvPr id="24" name="Shape 20"/>
          <p:cNvSpPr/>
          <p:nvPr/>
        </p:nvSpPr>
        <p:spPr>
          <a:xfrm>
            <a:off x="1071880" y="4431029"/>
            <a:ext cx="50800" cy="50800"/>
          </a:xfrm>
          <a:prstGeom prst="rect">
            <a:avLst/>
          </a:prstGeom>
          <a:solidFill>
            <a:srgbClr val="ED1B24"/>
          </a:solidFill>
          <a:ln/>
        </p:spPr>
      </p:sp>
      <p:sp>
        <p:nvSpPr>
          <p:cNvPr id="25" name="Text 21"/>
          <p:cNvSpPr/>
          <p:nvPr/>
        </p:nvSpPr>
        <p:spPr>
          <a:xfrm>
            <a:off x="1211580" y="4349750"/>
            <a:ext cx="20133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Permitted external data</a:t>
            </a:r>
            <a:endParaRPr lang="en-US" sz="1200" dirty="0"/>
          </a:p>
        </p:txBody>
      </p:sp>
      <p:sp>
        <p:nvSpPr>
          <p:cNvPr id="26" name="Shape 22"/>
          <p:cNvSpPr/>
          <p:nvPr/>
        </p:nvSpPr>
        <p:spPr>
          <a:xfrm>
            <a:off x="4405789" y="1806575"/>
            <a:ext cx="3380343" cy="3012440"/>
          </a:xfrm>
          <a:prstGeom prst="roundRect">
            <a:avLst>
              <a:gd name="adj" fmla="val 3267"/>
            </a:avLst>
          </a:prstGeom>
          <a:solidFill>
            <a:srgbClr val="FFFFFF"/>
          </a:solidFill>
          <a:ln w="6350">
            <a:solidFill>
              <a:srgbClr val="D9D9D9"/>
            </a:solidFill>
            <a:prstDash val="solid"/>
          </a:ln>
        </p:spPr>
      </p:sp>
      <p:sp>
        <p:nvSpPr>
          <p:cNvPr id="27" name="Shape 23"/>
          <p:cNvSpPr/>
          <p:nvPr/>
        </p:nvSpPr>
        <p:spPr>
          <a:xfrm>
            <a:off x="4661694" y="2062479"/>
            <a:ext cx="355600" cy="355600"/>
          </a:xfrm>
          <a:prstGeom prst="roundRect">
            <a:avLst>
              <a:gd name="adj" fmla="val 25000"/>
            </a:avLst>
          </a:prstGeom>
          <a:solidFill>
            <a:srgbClr val="FBD2D4"/>
          </a:solidFill>
          <a:ln/>
        </p:spPr>
      </p:sp>
      <p:pic>
        <p:nvPicPr>
          <p:cNvPr id="28" name="Image 2" descr="Settings">    </p:cNvPr>
          <p:cNvPicPr>
            <a:picLocks noChangeAspect="1"/>
          </p:cNvPicPr>
          <p:nvPr/>
        </p:nvPicPr>
        <p:blipFill>
          <a:blip r:embed="rId3"/>
          <a:srcRect l="0" r="0" t="0" b="0"/>
          <a:stretch/>
        </p:blipFill>
        <p:spPr>
          <a:xfrm>
            <a:off x="4737894" y="2138679"/>
            <a:ext cx="203200" cy="203200"/>
          </a:xfrm>
          <a:prstGeom prst="rect">
            <a:avLst/>
          </a:prstGeom>
        </p:spPr>
      </p:pic>
      <p:sp>
        <p:nvSpPr>
          <p:cNvPr id="29" name="Text 24"/>
          <p:cNvSpPr/>
          <p:nvPr/>
        </p:nvSpPr>
        <p:spPr>
          <a:xfrm>
            <a:off x="5118894" y="2087879"/>
            <a:ext cx="13012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Platform</a:t>
            </a:r>
            <a:endParaRPr lang="en-US" sz="2000" dirty="0"/>
          </a:p>
        </p:txBody>
      </p:sp>
      <p:pic>
        <p:nvPicPr>
          <p:cNvPr id="30" name="Image 3" descr="line">    </p:cNvPr>
          <p:cNvPicPr>
            <a:picLocks noChangeAspect="1"/>
          </p:cNvPicPr>
          <p:nvPr/>
        </p:nvPicPr>
        <p:blipFill>
          <a:blip r:embed="rId4"/>
          <a:srcRect l="0" r="0" t="-32" b="-32"/>
          <a:stretch/>
        </p:blipFill>
        <p:spPr>
          <a:xfrm>
            <a:off x="4661694" y="2545079"/>
            <a:ext cx="2868533" cy="6350"/>
          </a:xfrm>
          <a:prstGeom prst="rect">
            <a:avLst/>
          </a:prstGeom>
        </p:spPr>
      </p:pic>
      <p:sp>
        <p:nvSpPr>
          <p:cNvPr id="31" name="Shape 25"/>
          <p:cNvSpPr/>
          <p:nvPr/>
        </p:nvSpPr>
        <p:spPr>
          <a:xfrm>
            <a:off x="4661694" y="2759714"/>
            <a:ext cx="50800" cy="50800"/>
          </a:xfrm>
          <a:prstGeom prst="rect">
            <a:avLst/>
          </a:prstGeom>
          <a:solidFill>
            <a:srgbClr val="ED1B24"/>
          </a:solidFill>
          <a:ln/>
        </p:spPr>
      </p:sp>
      <p:sp>
        <p:nvSpPr>
          <p:cNvPr id="32" name="Text 26"/>
          <p:cNvSpPr/>
          <p:nvPr/>
        </p:nvSpPr>
        <p:spPr>
          <a:xfrm>
            <a:off x="4801394" y="2678429"/>
            <a:ext cx="24656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Lakehouse and feature store</a:t>
            </a:r>
            <a:endParaRPr lang="en-US" sz="1200" dirty="0"/>
          </a:p>
        </p:txBody>
      </p:sp>
      <p:sp>
        <p:nvSpPr>
          <p:cNvPr id="33" name="Shape 27"/>
          <p:cNvSpPr/>
          <p:nvPr/>
        </p:nvSpPr>
        <p:spPr>
          <a:xfrm>
            <a:off x="4661694" y="2998471"/>
            <a:ext cx="50800" cy="50800"/>
          </a:xfrm>
          <a:prstGeom prst="rect">
            <a:avLst/>
          </a:prstGeom>
          <a:solidFill>
            <a:srgbClr val="ED1B24"/>
          </a:solidFill>
          <a:ln/>
        </p:spPr>
      </p:sp>
      <p:sp>
        <p:nvSpPr>
          <p:cNvPr id="34" name="Text 28"/>
          <p:cNvSpPr/>
          <p:nvPr/>
        </p:nvSpPr>
        <p:spPr>
          <a:xfrm>
            <a:off x="4801394" y="2917192"/>
            <a:ext cx="1704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Streaming pipelines</a:t>
            </a:r>
            <a:endParaRPr lang="en-US" sz="1200" dirty="0"/>
          </a:p>
        </p:txBody>
      </p:sp>
      <p:sp>
        <p:nvSpPr>
          <p:cNvPr id="35" name="Shape 29"/>
          <p:cNvSpPr/>
          <p:nvPr/>
        </p:nvSpPr>
        <p:spPr>
          <a:xfrm>
            <a:off x="4661694" y="3237229"/>
            <a:ext cx="50800" cy="50800"/>
          </a:xfrm>
          <a:prstGeom prst="rect">
            <a:avLst/>
          </a:prstGeom>
          <a:solidFill>
            <a:srgbClr val="ED1B24"/>
          </a:solidFill>
          <a:ln/>
        </p:spPr>
      </p:sp>
      <p:sp>
        <p:nvSpPr>
          <p:cNvPr id="36" name="Text 30"/>
          <p:cNvSpPr/>
          <p:nvPr/>
        </p:nvSpPr>
        <p:spPr>
          <a:xfrm>
            <a:off x="4801394" y="3155950"/>
            <a:ext cx="26502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Anomaly, peer-group analytics</a:t>
            </a:r>
            <a:endParaRPr lang="en-US" sz="1200" dirty="0"/>
          </a:p>
        </p:txBody>
      </p:sp>
      <p:sp>
        <p:nvSpPr>
          <p:cNvPr id="37" name="Shape 31"/>
          <p:cNvSpPr/>
          <p:nvPr/>
        </p:nvSpPr>
        <p:spPr>
          <a:xfrm>
            <a:off x="4661694" y="3475992"/>
            <a:ext cx="50800" cy="50800"/>
          </a:xfrm>
          <a:prstGeom prst="rect">
            <a:avLst/>
          </a:prstGeom>
          <a:solidFill>
            <a:srgbClr val="ED1B24"/>
          </a:solidFill>
          <a:ln/>
        </p:spPr>
      </p:sp>
      <p:sp>
        <p:nvSpPr>
          <p:cNvPr id="38" name="Text 32"/>
          <p:cNvSpPr/>
          <p:nvPr/>
        </p:nvSpPr>
        <p:spPr>
          <a:xfrm>
            <a:off x="4801394" y="3394714"/>
            <a:ext cx="2244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Graph database or engine</a:t>
            </a:r>
            <a:endParaRPr lang="en-US" sz="1200" dirty="0"/>
          </a:p>
        </p:txBody>
      </p:sp>
      <p:sp>
        <p:nvSpPr>
          <p:cNvPr id="39" name="Shape 33"/>
          <p:cNvSpPr/>
          <p:nvPr/>
        </p:nvSpPr>
        <p:spPr>
          <a:xfrm>
            <a:off x="4661694" y="3714750"/>
            <a:ext cx="50800" cy="50800"/>
          </a:xfrm>
          <a:prstGeom prst="rect">
            <a:avLst/>
          </a:prstGeom>
          <a:solidFill>
            <a:srgbClr val="ED1B24"/>
          </a:solidFill>
          <a:ln/>
        </p:spPr>
      </p:sp>
      <p:sp>
        <p:nvSpPr>
          <p:cNvPr id="40" name="Text 34"/>
          <p:cNvSpPr/>
          <p:nvPr/>
        </p:nvSpPr>
        <p:spPr>
          <a:xfrm>
            <a:off x="4801394" y="3633471"/>
            <a:ext cx="24341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Governed LLM with retrieval</a:t>
            </a:r>
            <a:endParaRPr lang="en-US" sz="1200" dirty="0"/>
          </a:p>
        </p:txBody>
      </p:sp>
      <p:sp>
        <p:nvSpPr>
          <p:cNvPr id="41" name="Shape 35"/>
          <p:cNvSpPr/>
          <p:nvPr/>
        </p:nvSpPr>
        <p:spPr>
          <a:xfrm>
            <a:off x="4661694" y="3953514"/>
            <a:ext cx="50800" cy="50800"/>
          </a:xfrm>
          <a:prstGeom prst="rect">
            <a:avLst/>
          </a:prstGeom>
          <a:solidFill>
            <a:srgbClr val="ED1B24"/>
          </a:solidFill>
          <a:ln/>
        </p:spPr>
      </p:sp>
      <p:sp>
        <p:nvSpPr>
          <p:cNvPr id="42" name="Text 36"/>
          <p:cNvSpPr/>
          <p:nvPr/>
        </p:nvSpPr>
        <p:spPr>
          <a:xfrm>
            <a:off x="4801394" y="3872229"/>
            <a:ext cx="22700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Model registry, monitoring</a:t>
            </a:r>
            <a:endParaRPr lang="en-US" sz="1200" dirty="0"/>
          </a:p>
        </p:txBody>
      </p:sp>
      <p:sp>
        <p:nvSpPr>
          <p:cNvPr id="43" name="Shape 37"/>
          <p:cNvSpPr/>
          <p:nvPr/>
        </p:nvSpPr>
        <p:spPr>
          <a:xfrm>
            <a:off x="4661694" y="4192271"/>
            <a:ext cx="50800" cy="50800"/>
          </a:xfrm>
          <a:prstGeom prst="rect">
            <a:avLst/>
          </a:prstGeom>
          <a:solidFill>
            <a:srgbClr val="ED1B24"/>
          </a:solidFill>
          <a:ln/>
        </p:spPr>
      </p:sp>
      <p:sp>
        <p:nvSpPr>
          <p:cNvPr id="44" name="Text 38"/>
          <p:cNvSpPr/>
          <p:nvPr/>
        </p:nvSpPr>
        <p:spPr>
          <a:xfrm>
            <a:off x="4801394" y="4110992"/>
            <a:ext cx="19768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AML, Fraud, Case APIs</a:t>
            </a:r>
            <a:endParaRPr lang="en-US" sz="1200" dirty="0"/>
          </a:p>
        </p:txBody>
      </p:sp>
      <p:sp>
        <p:nvSpPr>
          <p:cNvPr id="45" name="Shape 39"/>
          <p:cNvSpPr/>
          <p:nvPr/>
        </p:nvSpPr>
        <p:spPr>
          <a:xfrm>
            <a:off x="4661694" y="4431029"/>
            <a:ext cx="50800" cy="50800"/>
          </a:xfrm>
          <a:prstGeom prst="rect">
            <a:avLst/>
          </a:prstGeom>
          <a:solidFill>
            <a:srgbClr val="ED1B24"/>
          </a:solidFill>
          <a:ln/>
        </p:spPr>
      </p:sp>
      <p:sp>
        <p:nvSpPr>
          <p:cNvPr id="46" name="Text 40"/>
          <p:cNvSpPr/>
          <p:nvPr/>
        </p:nvSpPr>
        <p:spPr>
          <a:xfrm>
            <a:off x="4801394" y="4349750"/>
            <a:ext cx="21904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Access control, audit trail</a:t>
            </a:r>
            <a:endParaRPr lang="en-US" sz="1200" dirty="0"/>
          </a:p>
        </p:txBody>
      </p:sp>
      <p:sp>
        <p:nvSpPr>
          <p:cNvPr id="47" name="Shape 41"/>
          <p:cNvSpPr/>
          <p:nvPr/>
        </p:nvSpPr>
        <p:spPr>
          <a:xfrm>
            <a:off x="7995682" y="1806575"/>
            <a:ext cx="3380343" cy="3012440"/>
          </a:xfrm>
          <a:prstGeom prst="roundRect">
            <a:avLst>
              <a:gd name="adj" fmla="val 3267"/>
            </a:avLst>
          </a:prstGeom>
          <a:solidFill>
            <a:srgbClr val="FFFFFF"/>
          </a:solidFill>
          <a:ln w="6350">
            <a:solidFill>
              <a:srgbClr val="D9D9D9"/>
            </a:solidFill>
            <a:prstDash val="solid"/>
          </a:ln>
        </p:spPr>
      </p:sp>
      <p:sp>
        <p:nvSpPr>
          <p:cNvPr id="48" name="Shape 42"/>
          <p:cNvSpPr/>
          <p:nvPr/>
        </p:nvSpPr>
        <p:spPr>
          <a:xfrm>
            <a:off x="8251587" y="2062479"/>
            <a:ext cx="355600" cy="355600"/>
          </a:xfrm>
          <a:prstGeom prst="roundRect">
            <a:avLst>
              <a:gd name="adj" fmla="val 25000"/>
            </a:avLst>
          </a:prstGeom>
          <a:solidFill>
            <a:srgbClr val="FBD2D4"/>
          </a:solidFill>
          <a:ln/>
        </p:spPr>
      </p:sp>
      <p:pic>
        <p:nvPicPr>
          <p:cNvPr id="49" name="Image 4" descr="Users">    </p:cNvPr>
          <p:cNvPicPr>
            <a:picLocks noChangeAspect="1"/>
          </p:cNvPicPr>
          <p:nvPr/>
        </p:nvPicPr>
        <p:blipFill>
          <a:blip r:embed="rId5"/>
          <a:srcRect l="0" r="0" t="0" b="0"/>
          <a:stretch/>
        </p:blipFill>
        <p:spPr>
          <a:xfrm>
            <a:off x="8327787" y="2138679"/>
            <a:ext cx="203200" cy="203200"/>
          </a:xfrm>
          <a:prstGeom prst="rect">
            <a:avLst/>
          </a:prstGeom>
        </p:spPr>
      </p:pic>
      <p:sp>
        <p:nvSpPr>
          <p:cNvPr id="50" name="Text 43"/>
          <p:cNvSpPr/>
          <p:nvPr/>
        </p:nvSpPr>
        <p:spPr>
          <a:xfrm>
            <a:off x="8708787" y="2087879"/>
            <a:ext cx="10469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People</a:t>
            </a:r>
            <a:endParaRPr lang="en-US" sz="2000" dirty="0"/>
          </a:p>
        </p:txBody>
      </p:sp>
      <p:pic>
        <p:nvPicPr>
          <p:cNvPr id="51" name="Image 5" descr="line">    </p:cNvPr>
          <p:cNvPicPr>
            <a:picLocks noChangeAspect="1"/>
          </p:cNvPicPr>
          <p:nvPr/>
        </p:nvPicPr>
        <p:blipFill>
          <a:blip r:embed="rId6"/>
          <a:srcRect l="0" r="0" t="-32" b="-32"/>
          <a:stretch/>
        </p:blipFill>
        <p:spPr>
          <a:xfrm>
            <a:off x="8251587" y="2545079"/>
            <a:ext cx="2868533" cy="6350"/>
          </a:xfrm>
          <a:prstGeom prst="rect">
            <a:avLst/>
          </a:prstGeom>
        </p:spPr>
      </p:pic>
      <p:sp>
        <p:nvSpPr>
          <p:cNvPr id="52" name="Shape 44"/>
          <p:cNvSpPr/>
          <p:nvPr/>
        </p:nvSpPr>
        <p:spPr>
          <a:xfrm>
            <a:off x="8251587" y="2759714"/>
            <a:ext cx="50800" cy="50800"/>
          </a:xfrm>
          <a:prstGeom prst="rect">
            <a:avLst/>
          </a:prstGeom>
          <a:solidFill>
            <a:srgbClr val="ED1B24"/>
          </a:solidFill>
          <a:ln/>
        </p:spPr>
      </p:sp>
      <p:sp>
        <p:nvSpPr>
          <p:cNvPr id="53" name="Text 45"/>
          <p:cNvSpPr/>
          <p:nvPr/>
        </p:nvSpPr>
        <p:spPr>
          <a:xfrm>
            <a:off x="8391287" y="2678429"/>
            <a:ext cx="2324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Fraud, FinCrime Risk SMEs</a:t>
            </a:r>
            <a:endParaRPr lang="en-US" sz="1200" dirty="0"/>
          </a:p>
        </p:txBody>
      </p:sp>
      <p:sp>
        <p:nvSpPr>
          <p:cNvPr id="54" name="Shape 46"/>
          <p:cNvSpPr/>
          <p:nvPr/>
        </p:nvSpPr>
        <p:spPr>
          <a:xfrm>
            <a:off x="8251587" y="2998471"/>
            <a:ext cx="50800" cy="50800"/>
          </a:xfrm>
          <a:prstGeom prst="rect">
            <a:avLst/>
          </a:prstGeom>
          <a:solidFill>
            <a:srgbClr val="ED1B24"/>
          </a:solidFill>
          <a:ln/>
        </p:spPr>
      </p:sp>
      <p:sp>
        <p:nvSpPr>
          <p:cNvPr id="55" name="Text 47"/>
          <p:cNvSpPr/>
          <p:nvPr/>
        </p:nvSpPr>
        <p:spPr>
          <a:xfrm>
            <a:off x="8391287" y="2917192"/>
            <a:ext cx="25707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Data Scientists, ML Engineers</a:t>
            </a:r>
            <a:endParaRPr lang="en-US" sz="1200" dirty="0"/>
          </a:p>
        </p:txBody>
      </p:sp>
      <p:sp>
        <p:nvSpPr>
          <p:cNvPr id="56" name="Shape 48"/>
          <p:cNvSpPr/>
          <p:nvPr/>
        </p:nvSpPr>
        <p:spPr>
          <a:xfrm>
            <a:off x="8251587" y="3237229"/>
            <a:ext cx="50800" cy="50800"/>
          </a:xfrm>
          <a:prstGeom prst="rect">
            <a:avLst/>
          </a:prstGeom>
          <a:solidFill>
            <a:srgbClr val="ED1B24"/>
          </a:solidFill>
          <a:ln/>
        </p:spPr>
      </p:sp>
      <p:sp>
        <p:nvSpPr>
          <p:cNvPr id="57" name="Text 49"/>
          <p:cNvSpPr/>
          <p:nvPr/>
        </p:nvSpPr>
        <p:spPr>
          <a:xfrm>
            <a:off x="8391287" y="3155950"/>
            <a:ext cx="22643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Data and Graph Engineers</a:t>
            </a:r>
            <a:endParaRPr lang="en-US" sz="1200" dirty="0"/>
          </a:p>
        </p:txBody>
      </p:sp>
      <p:sp>
        <p:nvSpPr>
          <p:cNvPr id="58" name="Shape 50"/>
          <p:cNvSpPr/>
          <p:nvPr/>
        </p:nvSpPr>
        <p:spPr>
          <a:xfrm>
            <a:off x="8251587" y="3475992"/>
            <a:ext cx="50800" cy="50800"/>
          </a:xfrm>
          <a:prstGeom prst="rect">
            <a:avLst/>
          </a:prstGeom>
          <a:solidFill>
            <a:srgbClr val="ED1B24"/>
          </a:solidFill>
          <a:ln/>
        </p:spPr>
      </p:sp>
      <p:sp>
        <p:nvSpPr>
          <p:cNvPr id="59" name="Text 51"/>
          <p:cNvSpPr/>
          <p:nvPr/>
        </p:nvSpPr>
        <p:spPr>
          <a:xfrm>
            <a:off x="8391287" y="3394714"/>
            <a:ext cx="19860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Model Validation, MRM</a:t>
            </a:r>
            <a:endParaRPr lang="en-US" sz="1200" dirty="0"/>
          </a:p>
        </p:txBody>
      </p:sp>
      <p:sp>
        <p:nvSpPr>
          <p:cNvPr id="60" name="Shape 52"/>
          <p:cNvSpPr/>
          <p:nvPr/>
        </p:nvSpPr>
        <p:spPr>
          <a:xfrm>
            <a:off x="8251587" y="3714750"/>
            <a:ext cx="50800" cy="50800"/>
          </a:xfrm>
          <a:prstGeom prst="rect">
            <a:avLst/>
          </a:prstGeom>
          <a:solidFill>
            <a:srgbClr val="ED1B24"/>
          </a:solidFill>
          <a:ln/>
        </p:spPr>
      </p:sp>
      <p:sp>
        <p:nvSpPr>
          <p:cNvPr id="61" name="Text 53"/>
          <p:cNvSpPr/>
          <p:nvPr/>
        </p:nvSpPr>
        <p:spPr>
          <a:xfrm>
            <a:off x="8391287" y="3633471"/>
            <a:ext cx="22612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InfoSec, Data Governance</a:t>
            </a:r>
            <a:endParaRPr lang="en-US" sz="1200" dirty="0"/>
          </a:p>
        </p:txBody>
      </p:sp>
      <p:sp>
        <p:nvSpPr>
          <p:cNvPr id="62" name="Shape 54"/>
          <p:cNvSpPr/>
          <p:nvPr/>
        </p:nvSpPr>
        <p:spPr>
          <a:xfrm>
            <a:off x="8251587" y="3953514"/>
            <a:ext cx="50800" cy="50800"/>
          </a:xfrm>
          <a:prstGeom prst="rect">
            <a:avLst/>
          </a:prstGeom>
          <a:solidFill>
            <a:srgbClr val="ED1B24"/>
          </a:solidFill>
          <a:ln/>
        </p:spPr>
      </p:sp>
      <p:sp>
        <p:nvSpPr>
          <p:cNvPr id="63" name="Text 55"/>
          <p:cNvSpPr/>
          <p:nvPr/>
        </p:nvSpPr>
        <p:spPr>
          <a:xfrm>
            <a:off x="8391287" y="3872229"/>
            <a:ext cx="19206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Legal and Compliance</a:t>
            </a:r>
            <a:endParaRPr lang="en-US" sz="1200" dirty="0"/>
          </a:p>
        </p:txBody>
      </p:sp>
      <p:sp>
        <p:nvSpPr>
          <p:cNvPr id="64" name="Shape 56"/>
          <p:cNvSpPr/>
          <p:nvPr/>
        </p:nvSpPr>
        <p:spPr>
          <a:xfrm>
            <a:off x="8251587" y="4192271"/>
            <a:ext cx="50800" cy="50800"/>
          </a:xfrm>
          <a:prstGeom prst="rect">
            <a:avLst/>
          </a:prstGeom>
          <a:solidFill>
            <a:srgbClr val="ED1B24"/>
          </a:solidFill>
          <a:ln/>
        </p:spPr>
      </p:sp>
      <p:sp>
        <p:nvSpPr>
          <p:cNvPr id="65" name="Text 57"/>
          <p:cNvSpPr/>
          <p:nvPr/>
        </p:nvSpPr>
        <p:spPr>
          <a:xfrm>
            <a:off x="8391287" y="4110992"/>
            <a:ext cx="2148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AML, Fraud investigators</a:t>
            </a:r>
            <a:endParaRPr lang="en-US" sz="1200" dirty="0"/>
          </a:p>
        </p:txBody>
      </p:sp>
      <p:sp>
        <p:nvSpPr>
          <p:cNvPr id="66" name="Shape 58"/>
          <p:cNvSpPr/>
          <p:nvPr/>
        </p:nvSpPr>
        <p:spPr>
          <a:xfrm>
            <a:off x="8251587" y="4431029"/>
            <a:ext cx="50800" cy="50800"/>
          </a:xfrm>
          <a:prstGeom prst="rect">
            <a:avLst/>
          </a:prstGeom>
          <a:solidFill>
            <a:srgbClr val="ED1B24"/>
          </a:solidFill>
          <a:ln/>
        </p:spPr>
      </p:sp>
      <p:sp>
        <p:nvSpPr>
          <p:cNvPr id="67" name="Text 59"/>
          <p:cNvSpPr/>
          <p:nvPr/>
        </p:nvSpPr>
        <p:spPr>
          <a:xfrm>
            <a:off x="8391287" y="4349750"/>
            <a:ext cx="15046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Integration teams</a:t>
            </a:r>
            <a:endParaRPr lang="en-US" sz="1200" dirty="0"/>
          </a:p>
        </p:txBody>
      </p:sp>
      <p:sp>
        <p:nvSpPr>
          <p:cNvPr id="68" name="Shape 60"/>
          <p:cNvSpPr/>
          <p:nvPr/>
        </p:nvSpPr>
        <p:spPr>
          <a:xfrm>
            <a:off x="812800" y="5025392"/>
            <a:ext cx="10566400" cy="731520"/>
          </a:xfrm>
          <a:prstGeom prst="roundRect">
            <a:avLst>
              <a:gd name="adj" fmla="val 13889"/>
            </a:avLst>
          </a:prstGeom>
          <a:solidFill>
            <a:srgbClr val="FBD2D4"/>
          </a:solidFill>
          <a:ln/>
        </p:spPr>
      </p:sp>
      <p:sp>
        <p:nvSpPr>
          <p:cNvPr id="69" name="Text 61"/>
          <p:cNvSpPr/>
          <p:nvPr/>
        </p:nvSpPr>
        <p:spPr>
          <a:xfrm>
            <a:off x="1016000" y="5284471"/>
            <a:ext cx="20929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0B0F"/>
                </a:solidFill>
                <a:latin typeface="Inter" pitchFamily="34" charset="0"/>
                <a:ea typeface="Inter" pitchFamily="34" charset="-122"/>
                <a:cs typeface="Inter" pitchFamily="34" charset="-120"/>
              </a:rPr>
              <a:t>SPECIALIST MODEL</a:t>
            </a:r>
            <a:endParaRPr lang="en-US" sz="1200" dirty="0"/>
          </a:p>
        </p:txBody>
      </p:sp>
      <p:sp>
        <p:nvSpPr>
          <p:cNvPr id="70" name="Text 62"/>
          <p:cNvSpPr/>
          <p:nvPr/>
        </p:nvSpPr>
        <p:spPr>
          <a:xfrm>
            <a:off x="3251200" y="5177792"/>
            <a:ext cx="81625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A medium-sized, in-house LLM post-trained on approved, anonymised data for fraud reasoning and alert summaries, to control accuracy, explainability, latency, privacy and cost.</a:t>
            </a:r>
            <a:endParaRPr lang="en-US" sz="1200" dirty="0"/>
          </a:p>
        </p:txBody>
      </p:sp>
      <p:sp>
        <p:nvSpPr>
          <p:cNvPr id="71" name="Text 6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ClaimIQ · Emerging Risk and Fraud Discovery</a:t>
            </a:r>
            <a:endParaRPr lang="en-US" sz="1200" dirty="0"/>
          </a:p>
        </p:txBody>
      </p:sp>
      <p:sp>
        <p:nvSpPr>
          <p:cNvPr id="72" name="Text 6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812800" y="877491"/>
            <a:ext cx="304800" cy="25400"/>
          </a:xfrm>
          <a:prstGeom prst="rect">
            <a:avLst/>
          </a:prstGeom>
          <a:solidFill>
            <a:srgbClr val="ED1B24"/>
          </a:solidFill>
          <a:ln/>
        </p:spPr>
      </p:sp>
      <p:sp>
        <p:nvSpPr>
          <p:cNvPr id="3" name="Text 1"/>
          <p:cNvSpPr/>
          <p:nvPr/>
        </p:nvSpPr>
        <p:spPr>
          <a:xfrm>
            <a:off x="1219200" y="783592"/>
            <a:ext cx="4241483"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3797D"/>
                </a:solidFill>
                <a:latin typeface="Inter" pitchFamily="34" charset="0"/>
                <a:ea typeface="Inter" pitchFamily="34" charset="-122"/>
                <a:cs typeface="Inter" pitchFamily="34" charset="-120"/>
              </a:rPr>
              <a:t>EXPECTED VALUE · PILOT TARGETS*</a:t>
            </a:r>
            <a:endParaRPr lang="en-US" sz="1200" dirty="0"/>
          </a:p>
        </p:txBody>
      </p:sp>
      <p:sp>
        <p:nvSpPr>
          <p:cNvPr id="4" name="Text 2"/>
          <p:cNvSpPr/>
          <p:nvPr>
            <p:ph type="title"/>
          </p:nvPr>
        </p:nvSpPr>
        <p:spPr>
          <a:xfrm>
            <a:off x="812800" y="1094662"/>
            <a:ext cx="10883392" cy="349964"/>
          </a:xfrm>
          <a:prstGeom prst="rect">
            <a:avLst/>
          </a:prstGeom>
          <a:noFill/>
          <a:ln/>
        </p:spPr>
        <p:txBody>
          <a:bodyPr wrap="square" lIns="0" tIns="0" rIns="0" bIns="0" rtlCol="0" anchor="t">
            <a:normAutofit/>
          </a:bodyPr>
          <a:lstStyle/>
          <a:p>
            <a:pPr algn="l" indent="0" marL="0">
              <a:lnSpc>
                <a:spcPts val="2574"/>
              </a:lnSpc>
              <a:buNone/>
            </a:pPr>
            <a:r>
              <a:rPr lang="en-US" sz="2340" b="1" i="0" spc="-50" kern="0" dirty="0">
                <a:solidFill>
                  <a:srgbClr val="FCFBFB"/>
                </a:solidFill>
                <a:latin typeface="Plus Jakarta Sans" pitchFamily="34" charset="0"/>
                <a:ea typeface="Plus Jakarta Sans" pitchFamily="34" charset="-122"/>
                <a:cs typeface="Plus Jakarta Sans" pitchFamily="34" charset="-120"/>
              </a:rPr>
              <a:t>Faster analysis, earlier detection</a:t>
            </a:r>
            <a:endParaRPr lang="en-US" sz="2340" dirty="0"/>
          </a:p>
        </p:txBody>
      </p:sp>
      <p:sp>
        <p:nvSpPr>
          <p:cNvPr id="5" name="Text 3"/>
          <p:cNvSpPr/>
          <p:nvPr/>
        </p:nvSpPr>
        <p:spPr>
          <a:xfrm>
            <a:off x="812800" y="1471061"/>
            <a:ext cx="3074035" cy="1549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ED1B24"/>
                </a:solidFill>
                <a:latin typeface="Plus Jakarta Sans" pitchFamily="34" charset="0"/>
                <a:ea typeface="Plus Jakarta Sans" pitchFamily="34" charset="-122"/>
                <a:cs typeface="Plus Jakarta Sans" pitchFamily="34" charset="-120"/>
              </a:rPr>
              <a:t>30–50%</a:t>
            </a:r>
            <a:endParaRPr lang="en-US" sz="6000" dirty="0"/>
          </a:p>
        </p:txBody>
      </p:sp>
      <p:sp>
        <p:nvSpPr>
          <p:cNvPr id="6" name="Text 4"/>
          <p:cNvSpPr/>
          <p:nvPr/>
        </p:nvSpPr>
        <p:spPr>
          <a:xfrm>
            <a:off x="4051300" y="1882539"/>
            <a:ext cx="37280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BFB"/>
                </a:solidFill>
                <a:latin typeface="Inter" pitchFamily="34" charset="0"/>
                <a:ea typeface="Inter" pitchFamily="34" charset="-122"/>
                <a:cs typeface="Inter" pitchFamily="34" charset="-120"/>
              </a:rPr>
              <a:t>less initial alert-analysis time</a:t>
            </a:r>
            <a:endParaRPr lang="en-US" sz="1400" dirty="0"/>
          </a:p>
        </p:txBody>
      </p:sp>
      <p:sp>
        <p:nvSpPr>
          <p:cNvPr id="7" name="Text 5"/>
          <p:cNvSpPr/>
          <p:nvPr/>
        </p:nvSpPr>
        <p:spPr>
          <a:xfrm>
            <a:off x="4051300" y="2156861"/>
            <a:ext cx="37280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Automated evidence aggregation and summarisation</a:t>
            </a:r>
            <a:endParaRPr lang="en-US" sz="1200" dirty="0"/>
          </a:p>
        </p:txBody>
      </p:sp>
      <p:pic>
        <p:nvPicPr>
          <p:cNvPr id="8" name="Image 0" descr="line">    </p:cNvPr>
          <p:cNvPicPr>
            <a:picLocks noChangeAspect="1"/>
          </p:cNvPicPr>
          <p:nvPr/>
        </p:nvPicPr>
        <p:blipFill>
          <a:blip r:embed="rId1"/>
          <a:srcRect l="0" r="0" t="0" b="0"/>
          <a:stretch/>
        </p:blipFill>
        <p:spPr>
          <a:xfrm>
            <a:off x="812800" y="2919890"/>
            <a:ext cx="6858000" cy="6350"/>
          </a:xfrm>
          <a:prstGeom prst="rect">
            <a:avLst/>
          </a:prstGeom>
        </p:spPr>
      </p:pic>
      <p:sp>
        <p:nvSpPr>
          <p:cNvPr id="9" name="Text 6"/>
          <p:cNvSpPr/>
          <p:nvPr/>
        </p:nvSpPr>
        <p:spPr>
          <a:xfrm>
            <a:off x="812800" y="2851069"/>
            <a:ext cx="3074035" cy="1549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ED1B24"/>
                </a:solidFill>
                <a:latin typeface="Plus Jakarta Sans" pitchFamily="34" charset="0"/>
                <a:ea typeface="Plus Jakarta Sans" pitchFamily="34" charset="-122"/>
                <a:cs typeface="Plus Jakarta Sans" pitchFamily="34" charset="-120"/>
              </a:rPr>
              <a:t>20–30%</a:t>
            </a:r>
            <a:endParaRPr lang="en-US" sz="6000" dirty="0"/>
          </a:p>
        </p:txBody>
      </p:sp>
      <p:sp>
        <p:nvSpPr>
          <p:cNvPr id="10" name="Text 7"/>
          <p:cNvSpPr/>
          <p:nvPr/>
        </p:nvSpPr>
        <p:spPr>
          <a:xfrm>
            <a:off x="4051300" y="3369233"/>
            <a:ext cx="37280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BFB"/>
                </a:solidFill>
                <a:latin typeface="Inter" pitchFamily="34" charset="0"/>
                <a:ea typeface="Inter" pitchFamily="34" charset="-122"/>
                <a:cs typeface="Inter" pitchFamily="34" charset="-120"/>
              </a:rPr>
              <a:t>less low-priority alert workload</a:t>
            </a:r>
            <a:endParaRPr lang="en-US" sz="1400" dirty="0"/>
          </a:p>
        </p:txBody>
      </p:sp>
      <p:sp>
        <p:nvSpPr>
          <p:cNvPr id="11" name="Text 8"/>
          <p:cNvSpPr/>
          <p:nvPr/>
        </p:nvSpPr>
        <p:spPr>
          <a:xfrm>
            <a:off x="4051300" y="3643554"/>
            <a:ext cx="37280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Anomaly ranking plus graph context</a:t>
            </a:r>
            <a:endParaRPr lang="en-US" sz="1200" dirty="0"/>
          </a:p>
        </p:txBody>
      </p:sp>
      <p:pic>
        <p:nvPicPr>
          <p:cNvPr id="12" name="Image 1" descr="line">    </p:cNvPr>
          <p:cNvPicPr>
            <a:picLocks noChangeAspect="1"/>
          </p:cNvPicPr>
          <p:nvPr/>
        </p:nvPicPr>
        <p:blipFill>
          <a:blip r:embed="rId2"/>
          <a:srcRect l="0" r="0" t="0" b="0"/>
          <a:stretch/>
        </p:blipFill>
        <p:spPr>
          <a:xfrm>
            <a:off x="812800" y="4299905"/>
            <a:ext cx="6858000" cy="6350"/>
          </a:xfrm>
          <a:prstGeom prst="rect">
            <a:avLst/>
          </a:prstGeom>
        </p:spPr>
      </p:pic>
      <p:sp>
        <p:nvSpPr>
          <p:cNvPr id="13" name="Text 9"/>
          <p:cNvSpPr/>
          <p:nvPr/>
        </p:nvSpPr>
        <p:spPr>
          <a:xfrm>
            <a:off x="812800" y="4332207"/>
            <a:ext cx="3074035"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ED1B24"/>
                </a:solidFill>
                <a:latin typeface="Plus Jakarta Sans" pitchFamily="34" charset="0"/>
                <a:ea typeface="Plus Jakarta Sans" pitchFamily="34" charset="-122"/>
                <a:cs typeface="Plus Jakarta Sans" pitchFamily="34" charset="-120"/>
              </a:rPr>
              <a:t>Days</a:t>
            </a:r>
            <a:endParaRPr lang="en-US" sz="6000" dirty="0"/>
          </a:p>
        </p:txBody>
      </p:sp>
      <p:sp>
        <p:nvSpPr>
          <p:cNvPr id="14" name="Text 10"/>
          <p:cNvSpPr/>
          <p:nvPr/>
        </p:nvSpPr>
        <p:spPr>
          <a:xfrm>
            <a:off x="4051300" y="4469290"/>
            <a:ext cx="37280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BFB"/>
                </a:solidFill>
                <a:latin typeface="Inter" pitchFamily="34" charset="0"/>
                <a:ea typeface="Inter" pitchFamily="34" charset="-122"/>
                <a:cs typeface="Inter" pitchFamily="34" charset="-120"/>
              </a:rPr>
              <a:t>to identify an emerging pattern</a:t>
            </a:r>
            <a:endParaRPr lang="en-US" sz="1400" dirty="0"/>
          </a:p>
        </p:txBody>
      </p:sp>
      <p:sp>
        <p:nvSpPr>
          <p:cNvPr id="15" name="Text 11"/>
          <p:cNvSpPr/>
          <p:nvPr/>
        </p:nvSpPr>
        <p:spPr>
          <a:xfrm>
            <a:off x="4051300" y="4743611"/>
            <a:ext cx="37280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Down from weeks or months</a:t>
            </a:r>
            <a:endParaRPr lang="en-US" sz="1200" dirty="0"/>
          </a:p>
        </p:txBody>
      </p:sp>
      <p:sp>
        <p:nvSpPr>
          <p:cNvPr id="16" name="Text 12"/>
          <p:cNvSpPr/>
          <p:nvPr/>
        </p:nvSpPr>
        <p:spPr>
          <a:xfrm>
            <a:off x="812800" y="5196284"/>
            <a:ext cx="2249932" cy="180499"/>
          </a:xfrm>
          <a:prstGeom prst="rect">
            <a:avLst/>
          </a:prstGeom>
          <a:noFill/>
          <a:ln/>
        </p:spPr>
        <p:txBody>
          <a:bodyPr wrap="square" lIns="0" tIns="0" rIns="0" bIns="0" rtlCol="0" anchor="t">
            <a:normAutofit/>
          </a:bodyPr>
          <a:lstStyle/>
          <a:p>
            <a:pPr algn="l" indent="0" marL="0">
              <a:lnSpc>
                <a:spcPts val="1223"/>
              </a:lnSpc>
              <a:buNone/>
            </a:pPr>
            <a:r>
              <a:rPr lang="en-US" sz="874" b="1" dirty="0">
                <a:solidFill>
                  <a:srgbClr val="F3797D"/>
                </a:solidFill>
                <a:latin typeface="Inter" pitchFamily="34" charset="0"/>
                <a:ea typeface="Inter" pitchFamily="34" charset="-122"/>
                <a:cs typeface="Inter" pitchFamily="34" charset="-120"/>
              </a:rPr>
              <a:t>Risk coverage</a:t>
            </a:r>
            <a:endParaRPr lang="en-US" sz="874" dirty="0"/>
          </a:p>
        </p:txBody>
      </p:sp>
      <p:sp>
        <p:nvSpPr>
          <p:cNvPr id="17" name="Text 13"/>
          <p:cNvSpPr/>
          <p:nvPr/>
        </p:nvSpPr>
        <p:spPr>
          <a:xfrm>
            <a:off x="812800" y="5376782"/>
            <a:ext cx="2249932" cy="490617"/>
          </a:xfrm>
          <a:prstGeom prst="rect">
            <a:avLst/>
          </a:prstGeom>
          <a:noFill/>
          <a:ln/>
        </p:spPr>
        <p:txBody>
          <a:bodyPr wrap="square" lIns="0" tIns="0" rIns="0" bIns="0" rtlCol="0" anchor="t">
            <a:normAutofit/>
          </a:bodyPr>
          <a:lstStyle/>
          <a:p>
            <a:pPr algn="l" indent="0" marL="0">
              <a:lnSpc>
                <a:spcPts val="1344"/>
              </a:lnSpc>
              <a:buNone/>
            </a:pPr>
            <a:r>
              <a:rPr lang="en-US" sz="960" dirty="0">
                <a:solidFill>
                  <a:srgbClr val="D9D9D9"/>
                </a:solidFill>
                <a:latin typeface="Inter" pitchFamily="34" charset="0"/>
                <a:ea typeface="Inter" pitchFamily="34" charset="-122"/>
                <a:cs typeface="Inter" pitchFamily="34" charset="-120"/>
              </a:rPr>
              <a:t>Higher detection of previously unknown or weakly signalled patterns</a:t>
            </a:r>
            <a:endParaRPr lang="en-US" sz="960" dirty="0"/>
          </a:p>
        </p:txBody>
      </p:sp>
      <p:sp>
        <p:nvSpPr>
          <p:cNvPr id="18" name="Text 14"/>
          <p:cNvSpPr/>
          <p:nvPr/>
        </p:nvSpPr>
        <p:spPr>
          <a:xfrm>
            <a:off x="3149600" y="5196284"/>
            <a:ext cx="2249932" cy="180499"/>
          </a:xfrm>
          <a:prstGeom prst="rect">
            <a:avLst/>
          </a:prstGeom>
          <a:noFill/>
          <a:ln/>
        </p:spPr>
        <p:txBody>
          <a:bodyPr wrap="square" lIns="0" tIns="0" rIns="0" bIns="0" rtlCol="0" anchor="t">
            <a:normAutofit/>
          </a:bodyPr>
          <a:lstStyle/>
          <a:p>
            <a:pPr algn="l" indent="0" marL="0">
              <a:lnSpc>
                <a:spcPts val="1223"/>
              </a:lnSpc>
              <a:buNone/>
            </a:pPr>
            <a:r>
              <a:rPr lang="en-US" sz="874" b="1" dirty="0">
                <a:solidFill>
                  <a:srgbClr val="F3797D"/>
                </a:solidFill>
                <a:latin typeface="Inter" pitchFamily="34" charset="0"/>
                <a:ea typeface="Inter" pitchFamily="34" charset="-122"/>
                <a:cs typeface="Inter" pitchFamily="34" charset="-120"/>
              </a:rPr>
              <a:t>Analyst capacity</a:t>
            </a:r>
            <a:endParaRPr lang="en-US" sz="874" dirty="0"/>
          </a:p>
        </p:txBody>
      </p:sp>
      <p:sp>
        <p:nvSpPr>
          <p:cNvPr id="19" name="Text 15"/>
          <p:cNvSpPr/>
          <p:nvPr/>
        </p:nvSpPr>
        <p:spPr>
          <a:xfrm>
            <a:off x="3149600" y="5376782"/>
            <a:ext cx="2249932" cy="490617"/>
          </a:xfrm>
          <a:prstGeom prst="rect">
            <a:avLst/>
          </a:prstGeom>
          <a:noFill/>
          <a:ln/>
        </p:spPr>
        <p:txBody>
          <a:bodyPr wrap="square" lIns="0" tIns="0" rIns="0" bIns="0" rtlCol="0" anchor="t">
            <a:normAutofit/>
          </a:bodyPr>
          <a:lstStyle/>
          <a:p>
            <a:pPr algn="l" indent="0" marL="0">
              <a:lnSpc>
                <a:spcPts val="1643"/>
              </a:lnSpc>
              <a:buNone/>
            </a:pPr>
            <a:r>
              <a:rPr lang="en-US" sz="1174" dirty="0">
                <a:solidFill>
                  <a:srgbClr val="D9D9D9"/>
                </a:solidFill>
                <a:latin typeface="Inter" pitchFamily="34" charset="0"/>
                <a:ea typeface="Inter" pitchFamily="34" charset="-122"/>
                <a:cs typeface="Inter" pitchFamily="34" charset="-120"/>
              </a:rPr>
              <a:t>More cases handled without proportional headcount growth</a:t>
            </a:r>
            <a:endParaRPr lang="en-US" sz="1174" dirty="0"/>
          </a:p>
        </p:txBody>
      </p:sp>
      <p:sp>
        <p:nvSpPr>
          <p:cNvPr id="20" name="Text 16"/>
          <p:cNvSpPr/>
          <p:nvPr/>
        </p:nvSpPr>
        <p:spPr>
          <a:xfrm>
            <a:off x="5486400" y="5196284"/>
            <a:ext cx="2249932" cy="180499"/>
          </a:xfrm>
          <a:prstGeom prst="rect">
            <a:avLst/>
          </a:prstGeom>
          <a:noFill/>
          <a:ln/>
        </p:spPr>
        <p:txBody>
          <a:bodyPr wrap="square" lIns="0" tIns="0" rIns="0" bIns="0" rtlCol="0" anchor="t">
            <a:normAutofit/>
          </a:bodyPr>
          <a:lstStyle/>
          <a:p>
            <a:pPr algn="l" indent="0" marL="0">
              <a:lnSpc>
                <a:spcPts val="1223"/>
              </a:lnSpc>
              <a:buNone/>
            </a:pPr>
            <a:r>
              <a:rPr lang="en-US" sz="874" b="1" dirty="0">
                <a:solidFill>
                  <a:srgbClr val="F3797D"/>
                </a:solidFill>
                <a:latin typeface="Inter" pitchFamily="34" charset="0"/>
                <a:ea typeface="Inter" pitchFamily="34" charset="-122"/>
                <a:cs typeface="Inter" pitchFamily="34" charset="-120"/>
              </a:rPr>
              <a:t>Loss exposure</a:t>
            </a:r>
            <a:endParaRPr lang="en-US" sz="874" dirty="0"/>
          </a:p>
        </p:txBody>
      </p:sp>
      <p:sp>
        <p:nvSpPr>
          <p:cNvPr id="21" name="Text 17"/>
          <p:cNvSpPr/>
          <p:nvPr/>
        </p:nvSpPr>
        <p:spPr>
          <a:xfrm>
            <a:off x="5486400" y="5376782"/>
            <a:ext cx="2249932" cy="490617"/>
          </a:xfrm>
          <a:prstGeom prst="rect">
            <a:avLst/>
          </a:prstGeom>
          <a:noFill/>
          <a:ln/>
        </p:spPr>
        <p:txBody>
          <a:bodyPr wrap="square" lIns="0" tIns="0" rIns="0" bIns="0" rtlCol="0" anchor="t">
            <a:normAutofit/>
          </a:bodyPr>
          <a:lstStyle/>
          <a:p>
            <a:pPr algn="l" indent="0" marL="0">
              <a:lnSpc>
                <a:spcPts val="1601"/>
              </a:lnSpc>
              <a:buNone/>
            </a:pPr>
            <a:r>
              <a:rPr lang="en-US" sz="1144" dirty="0">
                <a:solidFill>
                  <a:srgbClr val="D9D9D9"/>
                </a:solidFill>
                <a:latin typeface="Inter" pitchFamily="34" charset="0"/>
                <a:ea typeface="Inter" pitchFamily="34" charset="-122"/>
                <a:cs typeface="Inter" pitchFamily="34" charset="-120"/>
              </a:rPr>
              <a:t>Earlier warning and intervention before a pattern scales</a:t>
            </a:r>
            <a:endParaRPr lang="en-US" sz="1144" dirty="0"/>
          </a:p>
        </p:txBody>
      </p:sp>
      <p:sp>
        <p:nvSpPr>
          <p:cNvPr id="22" name="Shape 18"/>
          <p:cNvSpPr/>
          <p:nvPr/>
        </p:nvSpPr>
        <p:spPr>
          <a:xfrm>
            <a:off x="8077200" y="1673225"/>
            <a:ext cx="3302000" cy="4168775"/>
          </a:xfrm>
          <a:prstGeom prst="roundRect">
            <a:avLst>
              <a:gd name="adj" fmla="val 3077"/>
            </a:avLst>
          </a:prstGeom>
          <a:solidFill>
            <a:srgbClr val="7A0B0F"/>
          </a:solidFill>
          <a:ln/>
        </p:spPr>
      </p:sp>
      <p:sp>
        <p:nvSpPr>
          <p:cNvPr id="23" name="Text 19"/>
          <p:cNvSpPr/>
          <p:nvPr/>
        </p:nvSpPr>
        <p:spPr>
          <a:xfrm>
            <a:off x="8331200" y="1927225"/>
            <a:ext cx="287782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D2D4"/>
                </a:solidFill>
                <a:latin typeface="Inter" pitchFamily="34" charset="0"/>
                <a:ea typeface="Inter" pitchFamily="34" charset="-122"/>
                <a:cs typeface="Inter" pitchFamily="34" charset="-120"/>
              </a:rPr>
              <a:t>INVESTMENT AREAS</a:t>
            </a:r>
            <a:endParaRPr lang="en-US" sz="1200" dirty="0"/>
          </a:p>
        </p:txBody>
      </p:sp>
      <p:sp>
        <p:nvSpPr>
          <p:cNvPr id="24" name="Text 20"/>
          <p:cNvSpPr/>
          <p:nvPr/>
        </p:nvSpPr>
        <p:spPr>
          <a:xfrm>
            <a:off x="8331200" y="2267589"/>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A5A8"/>
                </a:solidFill>
                <a:latin typeface="Inter" pitchFamily="34" charset="0"/>
                <a:ea typeface="Inter" pitchFamily="34" charset="-122"/>
                <a:cs typeface="Inter" pitchFamily="34" charset="-120"/>
              </a:rPr>
              <a:t>01</a:t>
            </a:r>
            <a:endParaRPr lang="en-US" sz="1200" dirty="0"/>
          </a:p>
        </p:txBody>
      </p:sp>
      <p:sp>
        <p:nvSpPr>
          <p:cNvPr id="25" name="Text 21"/>
          <p:cNvSpPr/>
          <p:nvPr/>
        </p:nvSpPr>
        <p:spPr>
          <a:xfrm>
            <a:off x="8686800" y="2267589"/>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BFB"/>
                </a:solidFill>
                <a:latin typeface="Inter" pitchFamily="34" charset="0"/>
                <a:ea typeface="Inter" pitchFamily="34" charset="-122"/>
                <a:cs typeface="Inter" pitchFamily="34" charset="-120"/>
              </a:rPr>
              <a:t>Data engineering and system integration</a:t>
            </a:r>
            <a:endParaRPr lang="en-US" sz="1200" dirty="0"/>
          </a:p>
        </p:txBody>
      </p:sp>
      <p:sp>
        <p:nvSpPr>
          <p:cNvPr id="26" name="Text 22"/>
          <p:cNvSpPr/>
          <p:nvPr/>
        </p:nvSpPr>
        <p:spPr>
          <a:xfrm>
            <a:off x="8331200" y="2770504"/>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A5A8"/>
                </a:solidFill>
                <a:latin typeface="Inter" pitchFamily="34" charset="0"/>
                <a:ea typeface="Inter" pitchFamily="34" charset="-122"/>
                <a:cs typeface="Inter" pitchFamily="34" charset="-120"/>
              </a:rPr>
              <a:t>02</a:t>
            </a:r>
            <a:endParaRPr lang="en-US" sz="1200" dirty="0"/>
          </a:p>
        </p:txBody>
      </p:sp>
      <p:sp>
        <p:nvSpPr>
          <p:cNvPr id="27" name="Text 23"/>
          <p:cNvSpPr/>
          <p:nvPr/>
        </p:nvSpPr>
        <p:spPr>
          <a:xfrm>
            <a:off x="8686800" y="2770504"/>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BFB"/>
                </a:solidFill>
                <a:latin typeface="Inter" pitchFamily="34" charset="0"/>
                <a:ea typeface="Inter" pitchFamily="34" charset="-122"/>
                <a:cs typeface="Inter" pitchFamily="34" charset="-120"/>
              </a:rPr>
              <a:t>Graph and streaming infrastructure</a:t>
            </a:r>
            <a:endParaRPr lang="en-US" sz="1200" dirty="0"/>
          </a:p>
        </p:txBody>
      </p:sp>
      <p:sp>
        <p:nvSpPr>
          <p:cNvPr id="28" name="Text 24"/>
          <p:cNvSpPr/>
          <p:nvPr/>
        </p:nvSpPr>
        <p:spPr>
          <a:xfrm>
            <a:off x="8331200" y="3273425"/>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A5A8"/>
                </a:solidFill>
                <a:latin typeface="Inter" pitchFamily="34" charset="0"/>
                <a:ea typeface="Inter" pitchFamily="34" charset="-122"/>
                <a:cs typeface="Inter" pitchFamily="34" charset="-120"/>
              </a:rPr>
              <a:t>03</a:t>
            </a:r>
            <a:endParaRPr lang="en-US" sz="1200" dirty="0"/>
          </a:p>
        </p:txBody>
      </p:sp>
      <p:sp>
        <p:nvSpPr>
          <p:cNvPr id="29" name="Text 25"/>
          <p:cNvSpPr/>
          <p:nvPr/>
        </p:nvSpPr>
        <p:spPr>
          <a:xfrm>
            <a:off x="8686800" y="3273425"/>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BFB"/>
                </a:solidFill>
                <a:latin typeface="Inter" pitchFamily="34" charset="0"/>
                <a:ea typeface="Inter" pitchFamily="34" charset="-122"/>
                <a:cs typeface="Inter" pitchFamily="34" charset="-120"/>
              </a:rPr>
              <a:t>Model development, post-training and validation</a:t>
            </a:r>
            <a:endParaRPr lang="en-US" sz="1200" dirty="0"/>
          </a:p>
        </p:txBody>
      </p:sp>
      <p:sp>
        <p:nvSpPr>
          <p:cNvPr id="30" name="Text 26"/>
          <p:cNvSpPr/>
          <p:nvPr/>
        </p:nvSpPr>
        <p:spPr>
          <a:xfrm>
            <a:off x="8331200" y="3776346"/>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A5A8"/>
                </a:solidFill>
                <a:latin typeface="Inter" pitchFamily="34" charset="0"/>
                <a:ea typeface="Inter" pitchFamily="34" charset="-122"/>
                <a:cs typeface="Inter" pitchFamily="34" charset="-120"/>
              </a:rPr>
              <a:t>04</a:t>
            </a:r>
            <a:endParaRPr lang="en-US" sz="1200" dirty="0"/>
          </a:p>
        </p:txBody>
      </p:sp>
      <p:sp>
        <p:nvSpPr>
          <p:cNvPr id="31" name="Text 27"/>
          <p:cNvSpPr/>
          <p:nvPr/>
        </p:nvSpPr>
        <p:spPr>
          <a:xfrm>
            <a:off x="8686800" y="3776346"/>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BFB"/>
                </a:solidFill>
                <a:latin typeface="Inter" pitchFamily="34" charset="0"/>
                <a:ea typeface="Inter" pitchFamily="34" charset="-122"/>
                <a:cs typeface="Inter" pitchFamily="34" charset="-120"/>
              </a:rPr>
              <a:t>Information security and model governance</a:t>
            </a:r>
            <a:endParaRPr lang="en-US" sz="1200" dirty="0"/>
          </a:p>
        </p:txBody>
      </p:sp>
      <p:sp>
        <p:nvSpPr>
          <p:cNvPr id="32" name="Text 28"/>
          <p:cNvSpPr/>
          <p:nvPr/>
        </p:nvSpPr>
        <p:spPr>
          <a:xfrm>
            <a:off x="8331200" y="4279267"/>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A5A8"/>
                </a:solidFill>
                <a:latin typeface="Inter" pitchFamily="34" charset="0"/>
                <a:ea typeface="Inter" pitchFamily="34" charset="-122"/>
                <a:cs typeface="Inter" pitchFamily="34" charset="-120"/>
              </a:rPr>
              <a:t>05</a:t>
            </a:r>
            <a:endParaRPr lang="en-US" sz="1200" dirty="0"/>
          </a:p>
        </p:txBody>
      </p:sp>
      <p:sp>
        <p:nvSpPr>
          <p:cNvPr id="33" name="Text 29"/>
          <p:cNvSpPr/>
          <p:nvPr/>
        </p:nvSpPr>
        <p:spPr>
          <a:xfrm>
            <a:off x="8686800" y="4279267"/>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BFB"/>
                </a:solidFill>
                <a:latin typeface="Inter" pitchFamily="34" charset="0"/>
                <a:ea typeface="Inter" pitchFamily="34" charset="-122"/>
                <a:cs typeface="Inter" pitchFamily="34" charset="-120"/>
              </a:rPr>
              <a:t>Change management and user training</a:t>
            </a:r>
            <a:endParaRPr lang="en-US" sz="1200" dirty="0"/>
          </a:p>
        </p:txBody>
      </p:sp>
      <p:sp>
        <p:nvSpPr>
          <p:cNvPr id="34" name="Text 30"/>
          <p:cNvSpPr/>
          <p:nvPr/>
        </p:nvSpPr>
        <p:spPr>
          <a:xfrm>
            <a:off x="8331200" y="4782189"/>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A5A8"/>
                </a:solidFill>
                <a:latin typeface="Inter" pitchFamily="34" charset="0"/>
                <a:ea typeface="Inter" pitchFamily="34" charset="-122"/>
                <a:cs typeface="Inter" pitchFamily="34" charset="-120"/>
              </a:rPr>
              <a:t>06</a:t>
            </a:r>
            <a:endParaRPr lang="en-US" sz="1200" dirty="0"/>
          </a:p>
        </p:txBody>
      </p:sp>
      <p:sp>
        <p:nvSpPr>
          <p:cNvPr id="35" name="Text 31"/>
          <p:cNvSpPr/>
          <p:nvPr/>
        </p:nvSpPr>
        <p:spPr>
          <a:xfrm>
            <a:off x="8686800" y="4782189"/>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BFB"/>
                </a:solidFill>
                <a:latin typeface="Inter" pitchFamily="34" charset="0"/>
                <a:ea typeface="Inter" pitchFamily="34" charset="-122"/>
                <a:cs typeface="Inter" pitchFamily="34" charset="-120"/>
              </a:rPr>
              <a:t>Ongoing compute, storage and support</a:t>
            </a:r>
            <a:endParaRPr lang="en-US" sz="1200" dirty="0"/>
          </a:p>
        </p:txBody>
      </p:sp>
      <p:sp>
        <p:nvSpPr>
          <p:cNvPr id="36" name="Text 3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ABAB"/>
                </a:solidFill>
                <a:latin typeface="Inter" pitchFamily="34" charset="0"/>
                <a:ea typeface="Inter" pitchFamily="34" charset="-122"/>
                <a:cs typeface="Inter" pitchFamily="34" charset="-120"/>
              </a:rPr>
              <a:t>*Directional pilot targets; to be validated against the bank's current baseline.</a:t>
            </a:r>
            <a:endParaRPr lang="en-US" sz="1200" dirty="0"/>
          </a:p>
        </p:txBody>
      </p:sp>
      <p:sp>
        <p:nvSpPr>
          <p:cNvPr id="37" name="Text 3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FABAB"/>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B"/>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D1B24"/>
          </a:solidFill>
          <a:ln/>
        </p:spPr>
      </p:sp>
      <p:sp>
        <p:nvSpPr>
          <p:cNvPr id="3" name="Text 1"/>
          <p:cNvSpPr/>
          <p:nvPr/>
        </p:nvSpPr>
        <p:spPr>
          <a:xfrm>
            <a:off x="1219200" y="812800"/>
            <a:ext cx="207816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1B24"/>
                </a:solidFill>
                <a:latin typeface="Inter" pitchFamily="34" charset="0"/>
                <a:ea typeface="Inter" pitchFamily="34" charset="-122"/>
                <a:cs typeface="Inter" pitchFamily="34" charset="-120"/>
              </a:rPr>
              <a:t>PILOT AND SCALE</a:t>
            </a:r>
            <a:endParaRPr lang="en-US" sz="1200" dirty="0"/>
          </a:p>
        </p:txBody>
      </p:sp>
      <p:sp>
        <p:nvSpPr>
          <p:cNvPr id="4" name="Text 2"/>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00000"/>
                </a:solidFill>
                <a:latin typeface="Plus Jakarta Sans" pitchFamily="34" charset="0"/>
                <a:ea typeface="Plus Jakarta Sans" pitchFamily="34" charset="-122"/>
                <a:cs typeface="Plus Jakarta Sans" pitchFamily="34" charset="-120"/>
              </a:rPr>
              <a:t>Start focused, scale enterprise-wide</a:t>
            </a:r>
            <a:endParaRPr lang="en-US" sz="3200" dirty="0"/>
          </a:p>
        </p:txBody>
      </p:sp>
      <p:sp>
        <p:nvSpPr>
          <p:cNvPr id="5" name="Shape 3"/>
          <p:cNvSpPr/>
          <p:nvPr/>
        </p:nvSpPr>
        <p:spPr>
          <a:xfrm>
            <a:off x="812800" y="1803400"/>
            <a:ext cx="3281680" cy="2092960"/>
          </a:xfrm>
          <a:prstGeom prst="roundRect">
            <a:avLst>
              <a:gd name="adj" fmla="val 4854"/>
            </a:avLst>
          </a:prstGeom>
          <a:solidFill>
            <a:srgbClr val="7A0B0F"/>
          </a:solidFill>
          <a:ln/>
        </p:spPr>
      </p:sp>
      <p:sp>
        <p:nvSpPr>
          <p:cNvPr id="6" name="Text 4"/>
          <p:cNvSpPr/>
          <p:nvPr/>
        </p:nvSpPr>
        <p:spPr>
          <a:xfrm>
            <a:off x="1016000" y="2006600"/>
            <a:ext cx="296153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A5A8"/>
                </a:solidFill>
                <a:latin typeface="Inter" pitchFamily="34" charset="0"/>
                <a:ea typeface="Inter" pitchFamily="34" charset="-122"/>
                <a:cs typeface="Inter" pitchFamily="34" charset="-120"/>
              </a:rPr>
              <a:t>STAGE 1</a:t>
            </a:r>
            <a:endParaRPr lang="en-US" sz="1200" dirty="0"/>
          </a:p>
        </p:txBody>
      </p:sp>
      <p:sp>
        <p:nvSpPr>
          <p:cNvPr id="7" name="Text 5"/>
          <p:cNvSpPr/>
          <p:nvPr/>
        </p:nvSpPr>
        <p:spPr>
          <a:xfrm>
            <a:off x="1016000" y="2270764"/>
            <a:ext cx="29615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CFBFB"/>
                </a:solidFill>
                <a:latin typeface="Plus Jakarta Sans" pitchFamily="34" charset="0"/>
                <a:ea typeface="Plus Jakarta Sans" pitchFamily="34" charset="-122"/>
                <a:cs typeface="Plus Jakarta Sans" pitchFamily="34" charset="-120"/>
              </a:rPr>
              <a:t>Initial pilot</a:t>
            </a:r>
            <a:endParaRPr lang="en-US" sz="2000" dirty="0"/>
          </a:p>
        </p:txBody>
      </p:sp>
      <p:sp>
        <p:nvSpPr>
          <p:cNvPr id="8" name="Text 6"/>
          <p:cNvSpPr/>
          <p:nvPr/>
        </p:nvSpPr>
        <p:spPr>
          <a:xfrm>
            <a:off x="1016000" y="2626364"/>
            <a:ext cx="296153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D2D4"/>
                </a:solidFill>
                <a:latin typeface="Inter" pitchFamily="34" charset="0"/>
                <a:ea typeface="Inter" pitchFamily="34" charset="-122"/>
                <a:cs typeface="Inter" pitchFamily="34" charset="-120"/>
              </a:rPr>
              <a:t>Fraud Risk · Financial Crime and AML · Card and Payment Risk · Digital Banking Risk · Transaction Monitoring</a:t>
            </a:r>
            <a:endParaRPr lang="en-US" sz="1200" dirty="0"/>
          </a:p>
        </p:txBody>
      </p:sp>
      <p:pic>
        <p:nvPicPr>
          <p:cNvPr id="9" name="Image 0" descr="arrow-right">    </p:cNvPr>
          <p:cNvPicPr>
            <a:picLocks noChangeAspect="1"/>
          </p:cNvPicPr>
          <p:nvPr/>
        </p:nvPicPr>
        <p:blipFill>
          <a:blip r:embed="rId1"/>
          <a:srcRect l="0" r="0" t="0" b="0"/>
          <a:stretch/>
        </p:blipFill>
        <p:spPr>
          <a:xfrm>
            <a:off x="4170680" y="2799079"/>
            <a:ext cx="203200" cy="101600"/>
          </a:xfrm>
          <a:prstGeom prst="rect">
            <a:avLst/>
          </a:prstGeom>
        </p:spPr>
      </p:pic>
      <p:sp>
        <p:nvSpPr>
          <p:cNvPr id="10" name="Shape 7"/>
          <p:cNvSpPr/>
          <p:nvPr/>
        </p:nvSpPr>
        <p:spPr>
          <a:xfrm>
            <a:off x="4450080" y="1803400"/>
            <a:ext cx="3281680" cy="2092960"/>
          </a:xfrm>
          <a:prstGeom prst="roundRect">
            <a:avLst>
              <a:gd name="adj" fmla="val 4854"/>
            </a:avLst>
          </a:prstGeom>
          <a:solidFill>
            <a:srgbClr val="FBD2D4"/>
          </a:solidFill>
          <a:ln/>
        </p:spPr>
      </p:sp>
      <p:sp>
        <p:nvSpPr>
          <p:cNvPr id="11" name="Text 8"/>
          <p:cNvSpPr/>
          <p:nvPr/>
        </p:nvSpPr>
        <p:spPr>
          <a:xfrm>
            <a:off x="4653280" y="2006600"/>
            <a:ext cx="296153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0B0F"/>
                </a:solidFill>
                <a:latin typeface="Inter" pitchFamily="34" charset="0"/>
                <a:ea typeface="Inter" pitchFamily="34" charset="-122"/>
                <a:cs typeface="Inter" pitchFamily="34" charset="-120"/>
              </a:rPr>
              <a:t>STAGE 2</a:t>
            </a:r>
            <a:endParaRPr lang="en-US" sz="1200" dirty="0"/>
          </a:p>
        </p:txBody>
      </p:sp>
      <p:sp>
        <p:nvSpPr>
          <p:cNvPr id="12" name="Text 9"/>
          <p:cNvSpPr/>
          <p:nvPr/>
        </p:nvSpPr>
        <p:spPr>
          <a:xfrm>
            <a:off x="4653280" y="2270764"/>
            <a:ext cx="29615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Expansion</a:t>
            </a:r>
            <a:endParaRPr lang="en-US" sz="2000" dirty="0"/>
          </a:p>
        </p:txBody>
      </p:sp>
      <p:sp>
        <p:nvSpPr>
          <p:cNvPr id="13" name="Text 10"/>
          <p:cNvSpPr/>
          <p:nvPr/>
        </p:nvSpPr>
        <p:spPr>
          <a:xfrm>
            <a:off x="4653280" y="2626364"/>
            <a:ext cx="2961539"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Retail and Corporate Banking · Wealth Management · Lending and Credit Risk · Operations and Contact Centre · Cybersecurity and account takeover · Enterprise Risk</a:t>
            </a:r>
            <a:endParaRPr lang="en-US" sz="1200" dirty="0"/>
          </a:p>
        </p:txBody>
      </p:sp>
      <p:pic>
        <p:nvPicPr>
          <p:cNvPr id="14" name="Image 1" descr="arrow-right">    </p:cNvPr>
          <p:cNvPicPr>
            <a:picLocks noChangeAspect="1"/>
          </p:cNvPicPr>
          <p:nvPr/>
        </p:nvPicPr>
        <p:blipFill>
          <a:blip r:embed="rId2"/>
          <a:srcRect l="0" r="0" t="0" b="0"/>
          <a:stretch/>
        </p:blipFill>
        <p:spPr>
          <a:xfrm>
            <a:off x="7807960" y="2799079"/>
            <a:ext cx="203200" cy="101600"/>
          </a:xfrm>
          <a:prstGeom prst="rect">
            <a:avLst/>
          </a:prstGeom>
        </p:spPr>
      </p:pic>
      <p:sp>
        <p:nvSpPr>
          <p:cNvPr id="15" name="Shape 11"/>
          <p:cNvSpPr/>
          <p:nvPr/>
        </p:nvSpPr>
        <p:spPr>
          <a:xfrm>
            <a:off x="8090535" y="1806575"/>
            <a:ext cx="3285490" cy="2086610"/>
          </a:xfrm>
          <a:prstGeom prst="roundRect">
            <a:avLst>
              <a:gd name="adj" fmla="val 4717"/>
            </a:avLst>
          </a:prstGeom>
          <a:solidFill>
            <a:srgbClr val="FFFFFF"/>
          </a:solidFill>
          <a:ln w="6350">
            <a:solidFill>
              <a:srgbClr val="D9D9D9"/>
            </a:solidFill>
            <a:prstDash val="solid"/>
          </a:ln>
        </p:spPr>
      </p:sp>
      <p:sp>
        <p:nvSpPr>
          <p:cNvPr id="16" name="Text 12"/>
          <p:cNvSpPr/>
          <p:nvPr/>
        </p:nvSpPr>
        <p:spPr>
          <a:xfrm>
            <a:off x="8295640" y="2011679"/>
            <a:ext cx="296153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D1B24"/>
                </a:solidFill>
                <a:latin typeface="Inter" pitchFamily="34" charset="0"/>
                <a:ea typeface="Inter" pitchFamily="34" charset="-122"/>
                <a:cs typeface="Inter" pitchFamily="34" charset="-120"/>
              </a:rPr>
              <a:t>LONGER TERM</a:t>
            </a:r>
            <a:endParaRPr lang="en-US" sz="1200" dirty="0"/>
          </a:p>
        </p:txBody>
      </p:sp>
      <p:sp>
        <p:nvSpPr>
          <p:cNvPr id="17" name="Text 13"/>
          <p:cNvSpPr/>
          <p:nvPr/>
        </p:nvSpPr>
        <p:spPr>
          <a:xfrm>
            <a:off x="8295640" y="2275842"/>
            <a:ext cx="29615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0000"/>
                </a:solidFill>
                <a:latin typeface="Plus Jakarta Sans" pitchFamily="34" charset="0"/>
                <a:ea typeface="Plus Jakarta Sans" pitchFamily="34" charset="-122"/>
                <a:cs typeface="Plus Jakarta Sans" pitchFamily="34" charset="-120"/>
              </a:rPr>
              <a:t>Enterprise layer</a:t>
            </a:r>
            <a:endParaRPr lang="en-US" sz="2000" dirty="0"/>
          </a:p>
        </p:txBody>
      </p:sp>
      <p:sp>
        <p:nvSpPr>
          <p:cNvPr id="18" name="Text 14"/>
          <p:cNvSpPr/>
          <p:nvPr/>
        </p:nvSpPr>
        <p:spPr>
          <a:xfrm>
            <a:off x="8295640" y="2631442"/>
            <a:ext cx="296153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One discovery layer for emerging risk across customers, transactions, portfolios, operations, digital channels and external events</a:t>
            </a:r>
            <a:endParaRPr lang="en-US" sz="1200" dirty="0"/>
          </a:p>
        </p:txBody>
      </p:sp>
      <p:sp>
        <p:nvSpPr>
          <p:cNvPr id="19" name="Text 15"/>
          <p:cNvSpPr/>
          <p:nvPr/>
        </p:nvSpPr>
        <p:spPr>
          <a:xfrm>
            <a:off x="812800" y="4099564"/>
            <a:ext cx="300980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67171"/>
                </a:solidFill>
                <a:latin typeface="Inter" pitchFamily="34" charset="0"/>
                <a:ea typeface="Inter" pitchFamily="34" charset="-122"/>
                <a:cs typeface="Inter" pitchFamily="34" charset="-120"/>
              </a:rPr>
              <a:t>RECOMMENDED PILOT KPIS</a:t>
            </a:r>
            <a:endParaRPr lang="en-US" sz="1200" dirty="0"/>
          </a:p>
        </p:txBody>
      </p:sp>
      <p:sp>
        <p:nvSpPr>
          <p:cNvPr id="20" name="Shape 16"/>
          <p:cNvSpPr/>
          <p:nvPr/>
        </p:nvSpPr>
        <p:spPr>
          <a:xfrm>
            <a:off x="3422571" y="4203067"/>
            <a:ext cx="7956630" cy="6350"/>
          </a:xfrm>
          <a:prstGeom prst="rect">
            <a:avLst/>
          </a:prstGeom>
          <a:solidFill>
            <a:srgbClr val="D9D9D9"/>
          </a:solidFill>
          <a:ln/>
        </p:spPr>
      </p:sp>
      <p:sp>
        <p:nvSpPr>
          <p:cNvPr id="21" name="Text 17"/>
          <p:cNvSpPr/>
          <p:nvPr/>
        </p:nvSpPr>
        <p:spPr>
          <a:xfrm>
            <a:off x="812800" y="4414521"/>
            <a:ext cx="348821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Detection quality</a:t>
            </a:r>
            <a:endParaRPr lang="en-US" sz="1400" dirty="0"/>
          </a:p>
        </p:txBody>
      </p:sp>
      <p:sp>
        <p:nvSpPr>
          <p:cNvPr id="22" name="Shape 18"/>
          <p:cNvSpPr/>
          <p:nvPr/>
        </p:nvSpPr>
        <p:spPr>
          <a:xfrm>
            <a:off x="812800" y="4782821"/>
            <a:ext cx="50800" cy="50800"/>
          </a:xfrm>
          <a:prstGeom prst="rect">
            <a:avLst/>
          </a:prstGeom>
          <a:solidFill>
            <a:srgbClr val="ED1B24"/>
          </a:solidFill>
          <a:ln/>
        </p:spPr>
      </p:sp>
      <p:sp>
        <p:nvSpPr>
          <p:cNvPr id="23" name="Text 19"/>
          <p:cNvSpPr/>
          <p:nvPr/>
        </p:nvSpPr>
        <p:spPr>
          <a:xfrm>
            <a:off x="952500" y="4701542"/>
            <a:ext cx="27953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Recall on confirmed fraud cases</a:t>
            </a:r>
            <a:endParaRPr lang="en-US" sz="1200" dirty="0"/>
          </a:p>
        </p:txBody>
      </p:sp>
      <p:sp>
        <p:nvSpPr>
          <p:cNvPr id="24" name="Shape 20"/>
          <p:cNvSpPr/>
          <p:nvPr/>
        </p:nvSpPr>
        <p:spPr>
          <a:xfrm>
            <a:off x="812800" y="5034279"/>
            <a:ext cx="50800" cy="50800"/>
          </a:xfrm>
          <a:prstGeom prst="rect">
            <a:avLst/>
          </a:prstGeom>
          <a:solidFill>
            <a:srgbClr val="ED1B24"/>
          </a:solidFill>
          <a:ln/>
        </p:spPr>
      </p:sp>
      <p:sp>
        <p:nvSpPr>
          <p:cNvPr id="25" name="Text 21"/>
          <p:cNvSpPr/>
          <p:nvPr/>
        </p:nvSpPr>
        <p:spPr>
          <a:xfrm>
            <a:off x="952500" y="4953000"/>
            <a:ext cx="25951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Precision or alert-to-case rate</a:t>
            </a:r>
            <a:endParaRPr lang="en-US" sz="1200" dirty="0"/>
          </a:p>
        </p:txBody>
      </p:sp>
      <p:sp>
        <p:nvSpPr>
          <p:cNvPr id="26" name="Shape 22"/>
          <p:cNvSpPr/>
          <p:nvPr/>
        </p:nvSpPr>
        <p:spPr>
          <a:xfrm>
            <a:off x="812800" y="5285742"/>
            <a:ext cx="50800" cy="50800"/>
          </a:xfrm>
          <a:prstGeom prst="rect">
            <a:avLst/>
          </a:prstGeom>
          <a:solidFill>
            <a:srgbClr val="ED1B24"/>
          </a:solidFill>
          <a:ln/>
        </p:spPr>
      </p:sp>
      <p:sp>
        <p:nvSpPr>
          <p:cNvPr id="27" name="Text 23"/>
          <p:cNvSpPr/>
          <p:nvPr/>
        </p:nvSpPr>
        <p:spPr>
          <a:xfrm>
            <a:off x="952500" y="5204464"/>
            <a:ext cx="18943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Dollar-weighted recall</a:t>
            </a:r>
            <a:endParaRPr lang="en-US" sz="1200" dirty="0"/>
          </a:p>
        </p:txBody>
      </p:sp>
      <p:sp>
        <p:nvSpPr>
          <p:cNvPr id="28" name="Shape 24"/>
          <p:cNvSpPr/>
          <p:nvPr/>
        </p:nvSpPr>
        <p:spPr>
          <a:xfrm>
            <a:off x="812800" y="5537200"/>
            <a:ext cx="50800" cy="50800"/>
          </a:xfrm>
          <a:prstGeom prst="rect">
            <a:avLst/>
          </a:prstGeom>
          <a:solidFill>
            <a:srgbClr val="ED1B24"/>
          </a:solidFill>
          <a:ln/>
        </p:spPr>
      </p:sp>
      <p:sp>
        <p:nvSpPr>
          <p:cNvPr id="29" name="Text 25"/>
          <p:cNvSpPr/>
          <p:nvPr/>
        </p:nvSpPr>
        <p:spPr>
          <a:xfrm>
            <a:off x="952500" y="5455921"/>
            <a:ext cx="15978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False-positive rate</a:t>
            </a:r>
            <a:endParaRPr lang="en-US" sz="1200" dirty="0"/>
          </a:p>
        </p:txBody>
      </p:sp>
      <p:sp>
        <p:nvSpPr>
          <p:cNvPr id="30" name="Text 26"/>
          <p:cNvSpPr/>
          <p:nvPr/>
        </p:nvSpPr>
        <p:spPr>
          <a:xfrm>
            <a:off x="4402614" y="4414521"/>
            <a:ext cx="34882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Speed and efficiency</a:t>
            </a:r>
            <a:endParaRPr lang="en-US" sz="1400" dirty="0"/>
          </a:p>
        </p:txBody>
      </p:sp>
      <p:sp>
        <p:nvSpPr>
          <p:cNvPr id="31" name="Shape 27"/>
          <p:cNvSpPr/>
          <p:nvPr/>
        </p:nvSpPr>
        <p:spPr>
          <a:xfrm>
            <a:off x="4402614" y="4782821"/>
            <a:ext cx="50800" cy="50800"/>
          </a:xfrm>
          <a:prstGeom prst="rect">
            <a:avLst/>
          </a:prstGeom>
          <a:solidFill>
            <a:srgbClr val="ED1B24"/>
          </a:solidFill>
          <a:ln/>
        </p:spPr>
      </p:sp>
      <p:sp>
        <p:nvSpPr>
          <p:cNvPr id="32" name="Text 28"/>
          <p:cNvSpPr/>
          <p:nvPr/>
        </p:nvSpPr>
        <p:spPr>
          <a:xfrm>
            <a:off x="4542314" y="4701542"/>
            <a:ext cx="23264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First signal to warning time</a:t>
            </a:r>
            <a:endParaRPr lang="en-US" sz="1200" dirty="0"/>
          </a:p>
        </p:txBody>
      </p:sp>
      <p:sp>
        <p:nvSpPr>
          <p:cNvPr id="33" name="Shape 29"/>
          <p:cNvSpPr/>
          <p:nvPr/>
        </p:nvSpPr>
        <p:spPr>
          <a:xfrm>
            <a:off x="4402614" y="5034279"/>
            <a:ext cx="50800" cy="50800"/>
          </a:xfrm>
          <a:prstGeom prst="rect">
            <a:avLst/>
          </a:prstGeom>
          <a:solidFill>
            <a:srgbClr val="ED1B24"/>
          </a:solidFill>
          <a:ln/>
        </p:spPr>
      </p:sp>
      <p:sp>
        <p:nvSpPr>
          <p:cNvPr id="34" name="Text 30"/>
          <p:cNvSpPr/>
          <p:nvPr/>
        </p:nvSpPr>
        <p:spPr>
          <a:xfrm>
            <a:off x="4542314" y="4953000"/>
            <a:ext cx="22955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Investigation time per alert</a:t>
            </a:r>
            <a:endParaRPr lang="en-US" sz="1200" dirty="0"/>
          </a:p>
        </p:txBody>
      </p:sp>
      <p:sp>
        <p:nvSpPr>
          <p:cNvPr id="35" name="Text 31"/>
          <p:cNvSpPr/>
          <p:nvPr/>
        </p:nvSpPr>
        <p:spPr>
          <a:xfrm>
            <a:off x="7992507" y="4414521"/>
            <a:ext cx="34882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Inter" pitchFamily="34" charset="0"/>
                <a:ea typeface="Inter" pitchFamily="34" charset="-122"/>
                <a:cs typeface="Inter" pitchFamily="34" charset="-120"/>
              </a:rPr>
              <a:t>Value and adoption</a:t>
            </a:r>
            <a:endParaRPr lang="en-US" sz="1400" dirty="0"/>
          </a:p>
        </p:txBody>
      </p:sp>
      <p:sp>
        <p:nvSpPr>
          <p:cNvPr id="36" name="Shape 32"/>
          <p:cNvSpPr/>
          <p:nvPr/>
        </p:nvSpPr>
        <p:spPr>
          <a:xfrm>
            <a:off x="7992507" y="4782821"/>
            <a:ext cx="50800" cy="50800"/>
          </a:xfrm>
          <a:prstGeom prst="rect">
            <a:avLst/>
          </a:prstGeom>
          <a:solidFill>
            <a:srgbClr val="ED1B24"/>
          </a:solidFill>
          <a:ln/>
        </p:spPr>
      </p:sp>
      <p:sp>
        <p:nvSpPr>
          <p:cNvPr id="37" name="Text 33"/>
          <p:cNvSpPr/>
          <p:nvPr/>
        </p:nvSpPr>
        <p:spPr>
          <a:xfrm>
            <a:off x="8132207" y="4701542"/>
            <a:ext cx="24238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Emerging patterns validated</a:t>
            </a:r>
            <a:endParaRPr lang="en-US" sz="1200" dirty="0"/>
          </a:p>
        </p:txBody>
      </p:sp>
      <p:sp>
        <p:nvSpPr>
          <p:cNvPr id="38" name="Shape 34"/>
          <p:cNvSpPr/>
          <p:nvPr/>
        </p:nvSpPr>
        <p:spPr>
          <a:xfrm>
            <a:off x="7992507" y="5034279"/>
            <a:ext cx="50800" cy="50800"/>
          </a:xfrm>
          <a:prstGeom prst="rect">
            <a:avLst/>
          </a:prstGeom>
          <a:solidFill>
            <a:srgbClr val="ED1B24"/>
          </a:solidFill>
          <a:ln/>
        </p:spPr>
      </p:sp>
      <p:sp>
        <p:nvSpPr>
          <p:cNvPr id="39" name="Text 35"/>
          <p:cNvSpPr/>
          <p:nvPr/>
        </p:nvSpPr>
        <p:spPr>
          <a:xfrm>
            <a:off x="8132207" y="4953000"/>
            <a:ext cx="25825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Value flagged for early review</a:t>
            </a:r>
            <a:endParaRPr lang="en-US" sz="1200" dirty="0"/>
          </a:p>
        </p:txBody>
      </p:sp>
      <p:sp>
        <p:nvSpPr>
          <p:cNvPr id="40" name="Shape 36"/>
          <p:cNvSpPr/>
          <p:nvPr/>
        </p:nvSpPr>
        <p:spPr>
          <a:xfrm>
            <a:off x="7992507" y="5285742"/>
            <a:ext cx="50800" cy="50800"/>
          </a:xfrm>
          <a:prstGeom prst="rect">
            <a:avLst/>
          </a:prstGeom>
          <a:solidFill>
            <a:srgbClr val="ED1B24"/>
          </a:solidFill>
          <a:ln/>
        </p:spPr>
      </p:sp>
      <p:sp>
        <p:nvSpPr>
          <p:cNvPr id="41" name="Text 37"/>
          <p:cNvSpPr/>
          <p:nvPr/>
        </p:nvSpPr>
        <p:spPr>
          <a:xfrm>
            <a:off x="8132207" y="5204464"/>
            <a:ext cx="20816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 alerts fully evidenced</a:t>
            </a:r>
            <a:endParaRPr lang="en-US" sz="1200" dirty="0"/>
          </a:p>
        </p:txBody>
      </p:sp>
      <p:sp>
        <p:nvSpPr>
          <p:cNvPr id="42" name="Shape 38"/>
          <p:cNvSpPr/>
          <p:nvPr/>
        </p:nvSpPr>
        <p:spPr>
          <a:xfrm>
            <a:off x="7992507" y="5537200"/>
            <a:ext cx="50800" cy="50800"/>
          </a:xfrm>
          <a:prstGeom prst="rect">
            <a:avLst/>
          </a:prstGeom>
          <a:solidFill>
            <a:srgbClr val="ED1B24"/>
          </a:solidFill>
          <a:ln/>
        </p:spPr>
      </p:sp>
      <p:sp>
        <p:nvSpPr>
          <p:cNvPr id="43" name="Text 39"/>
          <p:cNvSpPr/>
          <p:nvPr/>
        </p:nvSpPr>
        <p:spPr>
          <a:xfrm>
            <a:off x="8132207" y="5455921"/>
            <a:ext cx="27861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04040"/>
                </a:solidFill>
                <a:latin typeface="Inter" pitchFamily="34" charset="0"/>
                <a:ea typeface="Inter" pitchFamily="34" charset="-122"/>
                <a:cs typeface="Inter" pitchFamily="34" charset="-120"/>
              </a:rPr>
              <a:t>Analyst acceptance of AI advice</a:t>
            </a:r>
            <a:endParaRPr lang="en-US" sz="1200" dirty="0"/>
          </a:p>
        </p:txBody>
      </p:sp>
      <p:sp>
        <p:nvSpPr>
          <p:cNvPr id="44" name="Text 40"/>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171"/>
                </a:solidFill>
                <a:latin typeface="Inter" pitchFamily="34" charset="0"/>
                <a:ea typeface="Inter" pitchFamily="34" charset="-122"/>
                <a:cs typeface="Inter" pitchFamily="34" charset="-120"/>
              </a:rPr>
              <a:t>ClaimIQ · Emerging Risk and Fraud Discovery</a:t>
            </a:r>
            <a:endParaRPr lang="en-US" sz="1200" dirty="0"/>
          </a:p>
        </p:txBody>
      </p:sp>
      <p:sp>
        <p:nvSpPr>
          <p:cNvPr id="45" name="Text 4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171"/>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7A0B0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7A0B0F"/>
              </a:gs>
              <a:gs pos="45000">
                <a:srgbClr val="7A0B0F"/>
              </a:gs>
              <a:gs pos="100000">
                <a:srgbClr val="ED1B24"/>
              </a:gs>
            </a:gsLst>
            <a:lin ang="1800000" scaled="0"/>
          </a:gradFill>
          <a:ln/>
        </p:spPr>
      </p:sp>
      <p:pic>
        <p:nvPicPr>
          <p:cNvPr id="3" name="Image 0" descr="Decorative radar rings">    </p:cNvPr>
          <p:cNvPicPr>
            <a:picLocks noChangeAspect="1"/>
          </p:cNvPicPr>
          <p:nvPr/>
        </p:nvPicPr>
        <p:blipFill>
          <a:blip r:embed="rId1"/>
          <a:srcRect l="0" r="0" t="0" b="0"/>
          <a:stretch/>
        </p:blipFill>
        <p:spPr>
          <a:xfrm>
            <a:off x="7061200" y="812800"/>
            <a:ext cx="4318000" cy="5232400"/>
          </a:xfrm>
          <a:prstGeom prst="rect">
            <a:avLst/>
          </a:prstGeom>
        </p:spPr>
      </p:pic>
      <p:sp>
        <p:nvSpPr>
          <p:cNvPr id="4" name="Shape 1"/>
          <p:cNvSpPr/>
          <p:nvPr/>
        </p:nvSpPr>
        <p:spPr>
          <a:xfrm>
            <a:off x="812800" y="906779"/>
            <a:ext cx="304800" cy="25400"/>
          </a:xfrm>
          <a:prstGeom prst="rect">
            <a:avLst/>
          </a:prstGeom>
          <a:solidFill>
            <a:srgbClr val="FBD2D4"/>
          </a:solidFill>
          <a:ln/>
        </p:spPr>
      </p:sp>
      <p:sp>
        <p:nvSpPr>
          <p:cNvPr id="5" name="Text 2"/>
          <p:cNvSpPr/>
          <p:nvPr/>
        </p:nvSpPr>
        <p:spPr>
          <a:xfrm>
            <a:off x="1219200" y="812800"/>
            <a:ext cx="1547527"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BD2D4"/>
                </a:solidFill>
                <a:latin typeface="Inter" pitchFamily="34" charset="0"/>
                <a:ea typeface="Inter" pitchFamily="34" charset="-122"/>
                <a:cs typeface="Inter" pitchFamily="34" charset="-120"/>
              </a:rPr>
              <a:t>POSITIONING</a:t>
            </a:r>
            <a:endParaRPr lang="en-US" sz="1200" dirty="0"/>
          </a:p>
        </p:txBody>
      </p:sp>
      <p:sp>
        <p:nvSpPr>
          <p:cNvPr id="6" name="Text 3"/>
          <p:cNvSpPr/>
          <p:nvPr/>
        </p:nvSpPr>
        <p:spPr>
          <a:xfrm>
            <a:off x="812800" y="1917067"/>
            <a:ext cx="98107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A5A8"/>
                </a:solidFill>
                <a:latin typeface="Inter" pitchFamily="34" charset="0"/>
                <a:ea typeface="Inter" pitchFamily="34" charset="-122"/>
                <a:cs typeface="Inter" pitchFamily="34" charset="-120"/>
              </a:rPr>
              <a:t>EXISTING CONTROLS ANSWER</a:t>
            </a:r>
            <a:endParaRPr lang="en-US" sz="1200" dirty="0"/>
          </a:p>
        </p:txBody>
      </p:sp>
      <p:sp>
        <p:nvSpPr>
          <p:cNvPr id="7" name="Text 4"/>
          <p:cNvSpPr/>
          <p:nvPr/>
        </p:nvSpPr>
        <p:spPr>
          <a:xfrm>
            <a:off x="812800" y="2206625"/>
            <a:ext cx="9810750"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7A5A8"/>
                </a:solidFill>
                <a:latin typeface="Plus Jakarta Sans" pitchFamily="34" charset="0"/>
                <a:ea typeface="Plus Jakarta Sans" pitchFamily="34" charset="-122"/>
                <a:cs typeface="Plus Jakarta Sans" pitchFamily="34" charset="-120"/>
              </a:rPr>
              <a:t>“Does this activity match a known risk pattern?”</a:t>
            </a:r>
            <a:endParaRPr lang="en-US" sz="2000" dirty="0"/>
          </a:p>
        </p:txBody>
      </p:sp>
      <p:sp>
        <p:nvSpPr>
          <p:cNvPr id="8" name="Shape 5"/>
          <p:cNvSpPr/>
          <p:nvPr/>
        </p:nvSpPr>
        <p:spPr>
          <a:xfrm>
            <a:off x="812800" y="2765425"/>
            <a:ext cx="9525000" cy="6350"/>
          </a:xfrm>
          <a:prstGeom prst="rect">
            <a:avLst/>
          </a:prstGeom>
          <a:solidFill>
            <a:srgbClr val="F3797D"/>
          </a:solidFill>
          <a:ln/>
        </p:spPr>
      </p:sp>
      <p:sp>
        <p:nvSpPr>
          <p:cNvPr id="9" name="Text 6"/>
          <p:cNvSpPr/>
          <p:nvPr/>
        </p:nvSpPr>
        <p:spPr>
          <a:xfrm>
            <a:off x="812800" y="3025775"/>
            <a:ext cx="98107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FBFB"/>
                </a:solidFill>
                <a:latin typeface="Inter" pitchFamily="34" charset="0"/>
                <a:ea typeface="Inter" pitchFamily="34" charset="-122"/>
                <a:cs typeface="Inter" pitchFamily="34" charset="-120"/>
              </a:rPr>
              <a:t>CLAIMIQ ANSWERS</a:t>
            </a:r>
            <a:endParaRPr lang="en-US" sz="1200" dirty="0"/>
          </a:p>
        </p:txBody>
      </p:sp>
      <p:sp>
        <p:nvSpPr>
          <p:cNvPr id="10" name="Text 7"/>
          <p:cNvSpPr/>
          <p:nvPr>
            <p:ph type="title"/>
          </p:nvPr>
        </p:nvSpPr>
        <p:spPr>
          <a:xfrm>
            <a:off x="812800" y="3315339"/>
            <a:ext cx="9810750" cy="136652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CFBFB"/>
                </a:solidFill>
                <a:latin typeface="Plus Jakarta Sans" pitchFamily="34" charset="0"/>
                <a:ea typeface="Plus Jakarta Sans" pitchFamily="34" charset="-122"/>
                <a:cs typeface="Plus Jakarta Sans" pitchFamily="34" charset="-120"/>
              </a:rPr>
              <a:t>“What new risk pattern is beginning to emerge, why does it matter, and what should we investigate now?”</a:t>
            </a:r>
            <a:endParaRPr lang="en-US" sz="3200" dirty="0"/>
          </a:p>
        </p:txBody>
      </p:sp>
      <p:sp>
        <p:nvSpPr>
          <p:cNvPr id="11" name="Text 8"/>
          <p:cNvSpPr/>
          <p:nvPr/>
        </p:nvSpPr>
        <p:spPr>
          <a:xfrm>
            <a:off x="812800" y="5547364"/>
            <a:ext cx="71945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CFBFB"/>
                </a:solidFill>
                <a:latin typeface="Inter" pitchFamily="34" charset="0"/>
                <a:ea typeface="Inter" pitchFamily="34" charset="-122"/>
                <a:cs typeface="Inter" pitchFamily="34" charset="-120"/>
              </a:rPr>
              <a:t>ClaimIQ does not replace current Risk models. It adds a discovery layer that enables the bank to identify and intervene earlier.</a:t>
            </a:r>
            <a:endParaRPr lang="en-US" sz="1400" dirty="0"/>
          </a:p>
        </p:txBody>
      </p:sp>
      <p:sp>
        <p:nvSpPr>
          <p:cNvPr id="12" name="Text 9"/>
          <p:cNvSpPr/>
          <p:nvPr/>
        </p:nvSpPr>
        <p:spPr>
          <a:xfrm>
            <a:off x="10222770" y="5689600"/>
            <a:ext cx="1156430"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FCFBFB"/>
                </a:solidFill>
                <a:latin typeface="Plus Jakarta Sans" pitchFamily="34" charset="0"/>
                <a:ea typeface="Plus Jakarta Sans" pitchFamily="34" charset="-122"/>
                <a:cs typeface="Plus Jakarta Sans" pitchFamily="34" charset="-120"/>
              </a:rPr>
              <a:t>Claim</a:t>
            </a:r>
            <a:r>
              <a:rPr lang="en-US" sz="2000" b="1" spc="-50" kern="0" dirty="0">
                <a:solidFill>
                  <a:srgbClr val="FBD2D4"/>
                </a:solidFill>
                <a:latin typeface="Plus Jakarta Sans" pitchFamily="34" charset="0"/>
                <a:ea typeface="Plus Jakarta Sans" pitchFamily="34" charset="-122"/>
                <a:cs typeface="Plus Jakarta Sans" pitchFamily="34" charset="-120"/>
              </a:rPr>
              <a:t>IQ</a:t>
            </a:r>
            <a:endParaRPr lang="en-US" sz="2000" dirty="0"/>
          </a:p>
        </p:txBody>
      </p:sp>
    </p:spTree>
  </p:cSld>
  <p:clrMapOvr>
    <a:masterClrMapping/>
  </p:clrMapOvr>
</p:sld>
</file>

<file path=ppt/theme/theme1.xml><?xml version="1.0" encoding="utf-8"?>
<a:theme xmlns:a="http://schemas.openxmlformats.org/drawingml/2006/main" name="ClaimIQ — Executive Briefing">
  <a:themeElements>
    <a:clrScheme name="ClaimIQ — Executive Briefing">
      <a:dk1>
        <a:srgbClr val="000000"/>
      </a:dk1>
      <a:lt1>
        <a:srgbClr val="FCFBFB"/>
      </a:lt1>
      <a:dk2>
        <a:srgbClr val="3F3F3F"/>
      </a:dk2>
      <a:lt2>
        <a:srgbClr val="E3E2E2"/>
      </a:lt2>
      <a:accent1>
        <a:srgbClr val="ED1B24"/>
      </a:accent1>
      <a:accent2>
        <a:srgbClr val="FBD2D4"/>
      </a:accent2>
      <a:accent3>
        <a:srgbClr val="7A0B0F"/>
      </a:accent3>
      <a:accent4>
        <a:srgbClr val="F3797D"/>
      </a:accent4>
      <a:accent5>
        <a:srgbClr val="F7A5A8"/>
      </a:accent5>
      <a:accent6>
        <a:srgbClr val="404040"/>
      </a:accent6>
      <a:hlink>
        <a:srgbClr val="0563C1"/>
      </a:hlink>
      <a:folHlink>
        <a:srgbClr val="954F72"/>
      </a:folHlink>
    </a:clrScheme>
    <a:fontScheme name="ClaimIQ — Executive Briefing">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ClaimIQ — Executive Briefing</dc:title>
  <dc:subject/>
  <dc:creator/>
  <cp:lastModifiedBy/>
  <cp:revision>1</cp:revision>
  <dcterms:created xsi:type="dcterms:W3CDTF">2026-10-14T12:59:47Z</dcterms:created>
  <dcterms:modified xsi:type="dcterms:W3CDTF">2026-10-14T12:59:47Z</dcterms:modified>
</cp:coreProperties>
</file>